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</p:sldMasterIdLst>
  <p:notesMasterIdLst>
    <p:notesMasterId r:id="rId29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1" r:id="rId23"/>
    <p:sldId id="283" r:id="rId24"/>
    <p:sldId id="284" r:id="rId25"/>
    <p:sldId id="285" r:id="rId26"/>
    <p:sldId id="2147473444" r:id="rId27"/>
    <p:sldId id="2147473443" r:id="rId28"/>
  </p:sldIdLst>
  <p:sldSz cx="12192000" cy="6858000"/>
  <p:notesSz cx="6858000" cy="9144000"/>
  <p:embeddedFontLst>
    <p:embeddedFont>
      <p:font typeface="Bebas Neue" panose="020B0606020202050201" pitchFamily="34" charset="77"/>
      <p:regular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DM Sans" pitchFamily="2" charset="77"/>
      <p:regular r:id="rId35"/>
      <p:bold r:id="rId36"/>
      <p:italic r:id="rId37"/>
      <p:boldItalic r:id="rId38"/>
    </p:embeddedFont>
    <p:embeddedFont>
      <p:font typeface="DM Sans 14pt" pitchFamily="2" charset="77"/>
      <p:regular r:id="rId39"/>
      <p:bold r:id="rId40"/>
      <p:italic r:id="rId41"/>
      <p:boldItalic r:id="rId42"/>
    </p:embeddedFont>
    <p:embeddedFont>
      <p:font typeface="DM Sans 14pt SemiBold" pitchFamily="2" charset="77"/>
      <p:regular r:id="rId43"/>
      <p:bold r:id="rId44"/>
      <p:italic r:id="rId45"/>
      <p:boldItalic r:id="rId46"/>
    </p:embeddedFont>
    <p:embeddedFont>
      <p:font typeface="Inter" panose="02000503000000020004" pitchFamily="2" charset="0"/>
      <p:regular r:id="rId47"/>
      <p:bold r:id="rId48"/>
      <p:italic r:id="rId49"/>
      <p:boldItalic r:id="rId50"/>
    </p:embeddedFont>
    <p:embeddedFont>
      <p:font typeface="Inter Medium" panose="020F0502020204030204" pitchFamily="34" charset="0"/>
      <p:regular r:id="rId51"/>
      <p:bold r:id="rId52"/>
      <p:italic r:id="rId53"/>
      <p:boldItalic r:id="rId54"/>
    </p:embeddedFont>
    <p:embeddedFont>
      <p:font typeface="Inter SemiBold" panose="020F0502020204030204" pitchFamily="34" charset="0"/>
      <p:regular r:id="rId55"/>
      <p:bold r:id="rId56"/>
      <p:italic r:id="rId57"/>
      <p:boldItalic r:id="rId58"/>
    </p:embeddedFont>
    <p:embeddedFont>
      <p:font typeface="JetBrains Mono" panose="02000009000000000000" pitchFamily="49" charset="0"/>
      <p:regular r:id="rId59"/>
      <p:bold r:id="rId60"/>
      <p:italic r:id="rId61"/>
      <p:boldItalic r:id="rId62"/>
    </p:embeddedFont>
    <p:embeddedFont>
      <p:font typeface="JetBrains Mono ExtraBold" panose="020F0502020204030204" pitchFamily="34" charset="0"/>
      <p:regular r:id="rId63"/>
      <p:bold r:id="rId64"/>
      <p:italic r:id="rId65"/>
      <p:boldItalic r:id="rId66"/>
    </p:embeddedFont>
    <p:embeddedFont>
      <p:font typeface="JetBrains Mono Medium" panose="020F0502020204030204" pitchFamily="34" charset="0"/>
      <p:regular r:id="rId67"/>
      <p:bold r:id="rId68"/>
      <p:italic r:id="rId69"/>
      <p:boldItalic r:id="rId70"/>
    </p:embeddedFont>
    <p:embeddedFont>
      <p:font typeface="JetBrains Mono SemiBold" panose="020F0502020204030204" pitchFamily="34" charset="0"/>
      <p:regular r:id="rId71"/>
      <p:bold r:id="rId72"/>
      <p:italic r:id="rId73"/>
      <p:boldItalic r:id="rId74"/>
    </p:embeddedFont>
    <p:embeddedFont>
      <p:font typeface="Open Sans" panose="020B0606030504020204" pitchFamily="34" charset="0"/>
      <p:regular r:id="rId75"/>
      <p:bold r:id="rId76"/>
      <p:italic r:id="rId77"/>
      <p:boldItalic r:id="rId78"/>
    </p:embeddedFont>
    <p:embeddedFont>
      <p:font typeface="Open Sans Extrabold" panose="020B0606030504020204" pitchFamily="34" charset="0"/>
      <p:bold r:id="rId79"/>
      <p:italic r:id="rId80"/>
      <p:boldItalic r:id="rId81"/>
    </p:embeddedFont>
    <p:embeddedFont>
      <p:font typeface="Open Sans Light" panose="020B0306030504020204" pitchFamily="34" charset="0"/>
      <p:regular r:id="rId82"/>
      <p:italic r:id="rId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0113C-755F-4E8D-AB35-C9882007499D}" v="2" dt="2026-05-26T16:11:55.802"/>
  </p1510:revLst>
</p1510:revInfo>
</file>

<file path=ppt/tableStyles.xml><?xml version="1.0" encoding="utf-8"?>
<a:tblStyleLst xmlns:a="http://schemas.openxmlformats.org/drawingml/2006/main" def="{C21EC180-500D-4391-9AB7-3260FDF59E6C}">
  <a:tblStyle styleId="{C21EC180-500D-4391-9AB7-3260FDF59E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2"/>
    <p:restoredTop sz="96301"/>
  </p:normalViewPr>
  <p:slideViewPr>
    <p:cSldViewPr snapToGrid="0">
      <p:cViewPr varScale="1">
        <p:scale>
          <a:sx n="123" d="100"/>
          <a:sy n="123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63" Type="http://schemas.openxmlformats.org/officeDocument/2006/relationships/font" Target="fonts/font34.fntdata"/><Relationship Id="rId68" Type="http://schemas.openxmlformats.org/officeDocument/2006/relationships/font" Target="fonts/font39.fntdata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53" Type="http://schemas.openxmlformats.org/officeDocument/2006/relationships/font" Target="fonts/font24.fntdata"/><Relationship Id="rId58" Type="http://schemas.openxmlformats.org/officeDocument/2006/relationships/font" Target="fonts/font29.fntdata"/><Relationship Id="rId74" Type="http://schemas.openxmlformats.org/officeDocument/2006/relationships/font" Target="fonts/font45.fntdata"/><Relationship Id="rId79" Type="http://schemas.openxmlformats.org/officeDocument/2006/relationships/font" Target="fonts/font50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schemas.openxmlformats.org/officeDocument/2006/relationships/font" Target="fonts/font27.fntdata"/><Relationship Id="rId64" Type="http://schemas.openxmlformats.org/officeDocument/2006/relationships/font" Target="fonts/font35.fntdata"/><Relationship Id="rId69" Type="http://schemas.openxmlformats.org/officeDocument/2006/relationships/font" Target="fonts/font40.fntdata"/><Relationship Id="rId77" Type="http://schemas.openxmlformats.org/officeDocument/2006/relationships/font" Target="fonts/font48.fntdata"/><Relationship Id="rId8" Type="http://schemas.openxmlformats.org/officeDocument/2006/relationships/slide" Target="slides/slide7.xml"/><Relationship Id="rId51" Type="http://schemas.openxmlformats.org/officeDocument/2006/relationships/font" Target="fonts/font22.fntdata"/><Relationship Id="rId72" Type="http://schemas.openxmlformats.org/officeDocument/2006/relationships/font" Target="fonts/font43.fntdata"/><Relationship Id="rId80" Type="http://schemas.openxmlformats.org/officeDocument/2006/relationships/font" Target="fonts/font51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font" Target="fonts/font30.fntdata"/><Relationship Id="rId67" Type="http://schemas.openxmlformats.org/officeDocument/2006/relationships/font" Target="fonts/font38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54" Type="http://schemas.openxmlformats.org/officeDocument/2006/relationships/font" Target="fonts/font25.fntdata"/><Relationship Id="rId62" Type="http://schemas.openxmlformats.org/officeDocument/2006/relationships/font" Target="fonts/font33.fntdata"/><Relationship Id="rId70" Type="http://schemas.openxmlformats.org/officeDocument/2006/relationships/font" Target="fonts/font41.fntdata"/><Relationship Id="rId75" Type="http://schemas.openxmlformats.org/officeDocument/2006/relationships/font" Target="fonts/font46.fntdata"/><Relationship Id="rId83" Type="http://schemas.openxmlformats.org/officeDocument/2006/relationships/font" Target="fonts/font54.fntdata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font" Target="fonts/font20.fntdata"/><Relationship Id="rId57" Type="http://schemas.openxmlformats.org/officeDocument/2006/relationships/font" Target="fonts/font28.fntdata"/><Relationship Id="rId10" Type="http://schemas.openxmlformats.org/officeDocument/2006/relationships/slide" Target="slides/slide9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font" Target="fonts/font23.fntdata"/><Relationship Id="rId60" Type="http://schemas.openxmlformats.org/officeDocument/2006/relationships/font" Target="fonts/font31.fntdata"/><Relationship Id="rId65" Type="http://schemas.openxmlformats.org/officeDocument/2006/relationships/font" Target="fonts/font36.fntdata"/><Relationship Id="rId73" Type="http://schemas.openxmlformats.org/officeDocument/2006/relationships/font" Target="fonts/font44.fntdata"/><Relationship Id="rId78" Type="http://schemas.openxmlformats.org/officeDocument/2006/relationships/font" Target="fonts/font49.fntdata"/><Relationship Id="rId81" Type="http://schemas.openxmlformats.org/officeDocument/2006/relationships/font" Target="fonts/font52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10.fntdata"/><Relationship Id="rId34" Type="http://schemas.openxmlformats.org/officeDocument/2006/relationships/font" Target="fonts/font5.fntdata"/><Relationship Id="rId50" Type="http://schemas.openxmlformats.org/officeDocument/2006/relationships/font" Target="fonts/font21.fntdata"/><Relationship Id="rId55" Type="http://schemas.openxmlformats.org/officeDocument/2006/relationships/font" Target="fonts/font26.fntdata"/><Relationship Id="rId76" Type="http://schemas.openxmlformats.org/officeDocument/2006/relationships/font" Target="fonts/font47.fntdata"/><Relationship Id="rId7" Type="http://schemas.openxmlformats.org/officeDocument/2006/relationships/slide" Target="slides/slide6.xml"/><Relationship Id="rId71" Type="http://schemas.openxmlformats.org/officeDocument/2006/relationships/font" Target="fonts/font42.fntdata"/><Relationship Id="rId2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4" Type="http://schemas.openxmlformats.org/officeDocument/2006/relationships/slide" Target="slides/slide23.xml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66" Type="http://schemas.openxmlformats.org/officeDocument/2006/relationships/font" Target="fonts/font37.fntdata"/><Relationship Id="rId87" Type="http://schemas.openxmlformats.org/officeDocument/2006/relationships/tableStyles" Target="tableStyles.xml"/><Relationship Id="rId61" Type="http://schemas.openxmlformats.org/officeDocument/2006/relationships/font" Target="fonts/font32.fntdata"/><Relationship Id="rId82" Type="http://schemas.openxmlformats.org/officeDocument/2006/relationships/font" Target="fonts/font53.fntdata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Capobianco" userId="FgpS6XYwbXINj6dw0+Yh+p8PGqG3Z6QJqMYsWQjKqOE=" providerId="None" clId="Web-{A3E0113C-755F-4E8D-AB35-C9882007499D}"/>
    <pc:docChg chg="modSld">
      <pc:chgData name="John Capobianco" userId="FgpS6XYwbXINj6dw0+Yh+p8PGqG3Z6QJqMYsWQjKqOE=" providerId="None" clId="Web-{A3E0113C-755F-4E8D-AB35-C9882007499D}" dt="2026-05-26T16:11:55.489" v="0" actId="20577"/>
      <pc:docMkLst>
        <pc:docMk/>
      </pc:docMkLst>
      <pc:sldChg chg="modSp">
        <pc:chgData name="John Capobianco" userId="FgpS6XYwbXINj6dw0+Yh+p8PGqG3Z6QJqMYsWQjKqOE=" providerId="None" clId="Web-{A3E0113C-755F-4E8D-AB35-C9882007499D}" dt="2026-05-26T16:11:55.489" v="0" actId="20577"/>
        <pc:sldMkLst>
          <pc:docMk/>
          <pc:sldMk cId="3643927310" sldId="262"/>
        </pc:sldMkLst>
        <pc:spChg chg="mod">
          <ac:chgData name="John Capobianco" userId="FgpS6XYwbXINj6dw0+Yh+p8PGqG3Z6QJqMYsWQjKqOE=" providerId="None" clId="Web-{A3E0113C-755F-4E8D-AB35-C9882007499D}" dt="2026-05-26T16:11:55.489" v="0" actId="20577"/>
          <ac:spMkLst>
            <pc:docMk/>
            <pc:sldMk cId="3643927310" sldId="262"/>
            <ac:spMk id="4" creationId="{F395CBDE-6F83-5E32-569A-FF18C4C04D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04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Navy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Navy-Grid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Navy Grid Pink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85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Navy-BottomGrid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01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SpeakerSlide02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SpeakerSlide03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SpeakerSlide04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SpeakerSlide05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InnerTitleSlide_Navy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InnerTitleSlide_Whit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5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-Navy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17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Quarter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0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Half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3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-Navy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-White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0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-Alt-Navy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84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TitleOnly-NavyWhi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White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Navy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0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2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HalfSplit-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20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-NavyWhit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 Bar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145614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White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94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5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-Whit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2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-Navy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4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-Whi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-Navy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0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-White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03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-Navy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13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-Whit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75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-Navy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13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-Navy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61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-White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0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Half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2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1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246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26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540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-Whit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0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-Navy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68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32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-Whit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14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-Navy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51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6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F0095"/>
          </p15:clr>
        </p15:guide>
        <p15:guide id="2" orient="horz" pos="959" userDrawn="1">
          <p15:clr>
            <a:srgbClr val="FF0095"/>
          </p15:clr>
        </p15:guide>
        <p15:guide id="3" orient="horz" pos="1199" userDrawn="1">
          <p15:clr>
            <a:srgbClr val="FF0095"/>
          </p15:clr>
        </p15:guide>
        <p15:guide id="4" orient="horz" pos="1440" userDrawn="1">
          <p15:clr>
            <a:srgbClr val="FF0095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Blank-Gradient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8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Blank-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5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8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966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-Whit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93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-Navy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16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86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-White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7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-Navy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67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-White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64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-Navy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564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-White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83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-Navy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1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White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2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Navy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370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White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039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Navy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626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5Box Grid BG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348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Bento-GridBG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89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Grid Callout Slide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03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Navy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7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Whit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773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0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73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Navy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241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-White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801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Navy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3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522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-White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937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-Navy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27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855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grid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805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439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74791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userDrawn="1">
  <p:cSld name="2_TitleSlide_Black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80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318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825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823" r:id="rId27"/>
    <p:sldLayoutId id="2147483766" r:id="rId28"/>
    <p:sldLayoutId id="2147483767" r:id="rId29"/>
    <p:sldLayoutId id="2147483768" r:id="rId30"/>
    <p:sldLayoutId id="2147483769" r:id="rId31"/>
    <p:sldLayoutId id="2147483770" r:id="rId32"/>
    <p:sldLayoutId id="2147483771" r:id="rId33"/>
    <p:sldLayoutId id="2147483772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78" r:id="rId40"/>
    <p:sldLayoutId id="2147483779" r:id="rId41"/>
    <p:sldLayoutId id="2147483780" r:id="rId42"/>
    <p:sldLayoutId id="2147483781" r:id="rId43"/>
    <p:sldLayoutId id="2147483782" r:id="rId44"/>
    <p:sldLayoutId id="2147483783" r:id="rId45"/>
    <p:sldLayoutId id="2147483784" r:id="rId46"/>
    <p:sldLayoutId id="2147483785" r:id="rId47"/>
    <p:sldLayoutId id="2147483786" r:id="rId48"/>
    <p:sldLayoutId id="2147483787" r:id="rId49"/>
    <p:sldLayoutId id="2147483788" r:id="rId50"/>
    <p:sldLayoutId id="2147483789" r:id="rId51"/>
    <p:sldLayoutId id="2147483790" r:id="rId52"/>
    <p:sldLayoutId id="2147483791" r:id="rId53"/>
    <p:sldLayoutId id="2147483792" r:id="rId54"/>
    <p:sldLayoutId id="2147483793" r:id="rId55"/>
    <p:sldLayoutId id="2147483794" r:id="rId56"/>
    <p:sldLayoutId id="2147483795" r:id="rId57"/>
    <p:sldLayoutId id="2147483796" r:id="rId58"/>
    <p:sldLayoutId id="2147483797" r:id="rId59"/>
    <p:sldLayoutId id="2147483798" r:id="rId60"/>
    <p:sldLayoutId id="2147483799" r:id="rId61"/>
    <p:sldLayoutId id="2147483800" r:id="rId62"/>
    <p:sldLayoutId id="2147483827" r:id="rId63"/>
    <p:sldLayoutId id="2147483803" r:id="rId64"/>
    <p:sldLayoutId id="2147483801" r:id="rId65"/>
    <p:sldLayoutId id="2147483802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  <p:sldLayoutId id="2147483813" r:id="rId76"/>
    <p:sldLayoutId id="2147483814" r:id="rId77"/>
    <p:sldLayoutId id="2147483815" r:id="rId78"/>
    <p:sldLayoutId id="2147483816" r:id="rId79"/>
    <p:sldLayoutId id="2147483817" r:id="rId80"/>
    <p:sldLayoutId id="2147483818" r:id="rId81"/>
    <p:sldLayoutId id="2147483819" r:id="rId82"/>
    <p:sldLayoutId id="2147483820" r:id="rId83"/>
    <p:sldLayoutId id="2147483821" r:id="rId84"/>
    <p:sldLayoutId id="2147483822" r:id="rId85"/>
    <p:sldLayoutId id="2147483828" r:id="rId8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EA4335"/>
          </p15:clr>
        </p15:guide>
        <p15:guide id="2" orient="horz" pos="2160" userDrawn="1">
          <p15:clr>
            <a:srgbClr val="EA4335"/>
          </p15:clr>
        </p15:guide>
        <p15:guide id="3" orient="horz" pos="4032" userDrawn="1">
          <p15:clr>
            <a:srgbClr val="EA4335"/>
          </p15:clr>
        </p15:guide>
        <p15:guide id="4" orient="horz" pos="288" userDrawn="1">
          <p15:clr>
            <a:srgbClr val="EA4335"/>
          </p15:clr>
        </p15:guide>
        <p15:guide id="5" pos="276" userDrawn="1">
          <p15:clr>
            <a:srgbClr val="EA4335"/>
          </p15:clr>
        </p15:guide>
        <p15:guide id="6" pos="7404" userDrawn="1">
          <p15:clr>
            <a:srgbClr val="EA4335"/>
          </p15:clr>
        </p15:guide>
        <p15:guide id="7" pos="2059" userDrawn="1">
          <p15:clr>
            <a:srgbClr val="EA4335"/>
          </p15:clr>
        </p15:guide>
        <p15:guide id="8" pos="5621" userDrawn="1">
          <p15:clr>
            <a:srgbClr val="EA4335"/>
          </p15:clr>
        </p15:guide>
        <p15:guide id="9" orient="horz" pos="1224" userDrawn="1">
          <p15:clr>
            <a:srgbClr val="EA4335"/>
          </p15:clr>
        </p15:guide>
        <p15:guide id="10" orient="horz" pos="3096" userDrawn="1">
          <p15:clr>
            <a:srgbClr val="EA4335"/>
          </p15:clr>
        </p15:guide>
        <p15:guide id="11" pos="1168" userDrawn="1">
          <p15:clr>
            <a:srgbClr val="EA4335"/>
          </p15:clr>
        </p15:guide>
        <p15:guide id="12" pos="2949" userDrawn="1">
          <p15:clr>
            <a:srgbClr val="EA4335"/>
          </p15:clr>
        </p15:guide>
        <p15:guide id="13" pos="4731" userDrawn="1">
          <p15:clr>
            <a:srgbClr val="EA4335"/>
          </p15:clr>
        </p15:guide>
        <p15:guide id="14" pos="6512" userDrawn="1">
          <p15:clr>
            <a:srgbClr val="EA4335"/>
          </p15:clr>
        </p15:guide>
        <p15:guide id="15" orient="horz" pos="756" userDrawn="1">
          <p15:clr>
            <a:srgbClr val="EA4335"/>
          </p15:clr>
        </p15:guide>
        <p15:guide id="16" orient="horz" pos="1692" userDrawn="1">
          <p15:clr>
            <a:srgbClr val="EA4335"/>
          </p15:clr>
        </p15:guide>
        <p15:guide id="17" orient="horz" pos="2628" userDrawn="1">
          <p15:clr>
            <a:srgbClr val="EA4335"/>
          </p15:clr>
        </p15:guide>
        <p15:guide id="18" orient="horz" pos="3564" userDrawn="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29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8.svg"/><Relationship Id="rId2" Type="http://schemas.openxmlformats.org/officeDocument/2006/relationships/image" Target="../media/image14.sv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6.sv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/>
          <p:cNvSpPr txBox="1">
            <a:spLocks noGrp="1"/>
          </p:cNvSpPr>
          <p:nvPr>
            <p:ph type="title"/>
          </p:nvPr>
        </p:nvSpPr>
        <p:spPr>
          <a:xfrm>
            <a:off x="602237" y="2349867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ts val="7000"/>
              </a:lnSpc>
            </a:pPr>
            <a:r>
              <a:rPr lang="en-US" sz="6600" dirty="0"/>
              <a:t>NETCLAW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C9F83E9-1AAD-EB07-0AF2-5D209563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132" y="3992267"/>
            <a:ext cx="6348999" cy="454665"/>
          </a:xfrm>
        </p:spPr>
        <p:txBody>
          <a:bodyPr/>
          <a:lstStyle/>
          <a:p>
            <a:pPr marL="152396" indent="0">
              <a:buNone/>
            </a:pPr>
            <a:r>
              <a:rPr lang="en-US" dirty="0">
                <a:solidFill>
                  <a:schemeClr val="accent2"/>
                </a:solidFill>
              </a:rPr>
              <a:t>Agentic Networking is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1BF0F-970C-3DC3-E3FC-3FB9A3B87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817049"/>
            <a:ext cx="1891956" cy="5652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8D1CC53-E467-0D52-D3B9-53DD5E93D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133B-55D7-C01A-0D6C-0D44A040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Journey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5CBDE-6F83-5E32-569A-FF18C4C04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4224217"/>
            <a:ext cx="8856209" cy="1094800"/>
          </a:xfrm>
        </p:spPr>
        <p:txBody>
          <a:bodyPr/>
          <a:lstStyle/>
          <a:p>
            <a:pPr marL="0">
              <a:spcAft>
                <a:spcPts val="1200"/>
              </a:spcAft>
            </a:pPr>
            <a:r>
              <a:rPr lang="en-US" sz="1800" b="1" dirty="0">
                <a:latin typeface="DM Sans 14pt"/>
                <a:ea typeface="Calibri"/>
                <a:cs typeface="Calibri"/>
              </a:rPr>
              <a:t>Written just 3 months ago. Inspired a whole new generation of agentic networking.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latin typeface="DM Sans 14pt" pitchFamily="2" charset="77"/>
                <a:ea typeface="Calibri" pitchFamily="34" charset="-122"/>
                <a:cs typeface="Calibri" pitchFamily="34" charset="-120"/>
              </a:rPr>
              <a:t>From junior network engineers to multi-CCIE operators, Claw builders creating videos, content, and personalized implementations every day.</a:t>
            </a:r>
          </a:p>
          <a:p>
            <a:pPr marL="0" indent="0">
              <a:spcAft>
                <a:spcPts val="1200"/>
              </a:spcAft>
              <a:buNone/>
            </a:pPr>
            <a:endParaRPr lang="en-US" sz="1800" b="1" dirty="0">
              <a:latin typeface="DM Sans 14pt" pitchFamily="2" charset="77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1200"/>
              </a:spcAft>
              <a:buNone/>
            </a:pPr>
            <a:endParaRPr lang="en-US" sz="1800" b="1" dirty="0">
              <a:latin typeface="DM Sans 14pt" pitchFamily="2" charset="77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52FB0B-1DC0-3234-ACFE-5167AB01A7A5}"/>
              </a:ext>
            </a:extLst>
          </p:cNvPr>
          <p:cNvGrpSpPr/>
          <p:nvPr/>
        </p:nvGrpSpPr>
        <p:grpSpPr>
          <a:xfrm>
            <a:off x="438867" y="1851484"/>
            <a:ext cx="2177113" cy="1386736"/>
            <a:chOff x="438867" y="1851484"/>
            <a:chExt cx="2177113" cy="138673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7603980-DEB0-2E8E-C45E-E60B5E99E440}"/>
                </a:ext>
              </a:extLst>
            </p:cNvPr>
            <p:cNvSpPr/>
            <p:nvPr/>
          </p:nvSpPr>
          <p:spPr>
            <a:xfrm>
              <a:off x="438867" y="2017651"/>
              <a:ext cx="2177113" cy="1146968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9" name="Stat3Txt">
              <a:extLst>
                <a:ext uri="{FF2B5EF4-FFF2-40B4-BE49-F238E27FC236}">
                  <a16:creationId xmlns:a16="http://schemas.microsoft.com/office/drawing/2014/main" id="{4A1899CA-EF07-9BF1-1405-B02291D387B8}"/>
                </a:ext>
              </a:extLst>
            </p:cNvPr>
            <p:cNvSpPr/>
            <p:nvPr/>
          </p:nvSpPr>
          <p:spPr>
            <a:xfrm>
              <a:off x="621748" y="1851484"/>
              <a:ext cx="1701340" cy="138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500+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GitHub Stars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00C6B7A-7DAD-05F2-74EC-CC31F8E8951E}"/>
              </a:ext>
            </a:extLst>
          </p:cNvPr>
          <p:cNvGrpSpPr/>
          <p:nvPr/>
        </p:nvGrpSpPr>
        <p:grpSpPr>
          <a:xfrm>
            <a:off x="2976439" y="1851484"/>
            <a:ext cx="2177113" cy="1386736"/>
            <a:chOff x="2976439" y="1851484"/>
            <a:chExt cx="2177113" cy="138673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03BC956-1B08-7006-E8DC-A9EF320325B4}"/>
                </a:ext>
              </a:extLst>
            </p:cNvPr>
            <p:cNvSpPr/>
            <p:nvPr/>
          </p:nvSpPr>
          <p:spPr>
            <a:xfrm>
              <a:off x="2976439" y="2017651"/>
              <a:ext cx="2177113" cy="1146968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1" name="Stat3Txt">
              <a:extLst>
                <a:ext uri="{FF2B5EF4-FFF2-40B4-BE49-F238E27FC236}">
                  <a16:creationId xmlns:a16="http://schemas.microsoft.com/office/drawing/2014/main" id="{083DFFAC-999B-0F52-F5E6-B388A85AC7A9}"/>
                </a:ext>
              </a:extLst>
            </p:cNvPr>
            <p:cNvSpPr/>
            <p:nvPr/>
          </p:nvSpPr>
          <p:spPr>
            <a:xfrm>
              <a:off x="3159320" y="1851484"/>
              <a:ext cx="1701340" cy="138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125+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Forks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3072E8-4257-5E79-935D-8A1EBE8D2671}"/>
              </a:ext>
            </a:extLst>
          </p:cNvPr>
          <p:cNvGrpSpPr/>
          <p:nvPr/>
        </p:nvGrpSpPr>
        <p:grpSpPr>
          <a:xfrm>
            <a:off x="5514011" y="1851484"/>
            <a:ext cx="2177113" cy="1386736"/>
            <a:chOff x="5514011" y="1851484"/>
            <a:chExt cx="2177113" cy="1386736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9A83F60-107C-690B-032E-7D2340F1B3AC}"/>
                </a:ext>
              </a:extLst>
            </p:cNvPr>
            <p:cNvSpPr/>
            <p:nvPr/>
          </p:nvSpPr>
          <p:spPr>
            <a:xfrm>
              <a:off x="5514011" y="2017651"/>
              <a:ext cx="2177113" cy="1146968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3" name="Stat3Txt">
              <a:extLst>
                <a:ext uri="{FF2B5EF4-FFF2-40B4-BE49-F238E27FC236}">
                  <a16:creationId xmlns:a16="http://schemas.microsoft.com/office/drawing/2014/main" id="{EF28E36C-7820-2363-0745-EAD44E857607}"/>
                </a:ext>
              </a:extLst>
            </p:cNvPr>
            <p:cNvSpPr/>
            <p:nvPr/>
          </p:nvSpPr>
          <p:spPr>
            <a:xfrm>
              <a:off x="5696892" y="1851484"/>
              <a:ext cx="1701340" cy="138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112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Skills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338725-F63C-19F4-0049-763450773425}"/>
              </a:ext>
            </a:extLst>
          </p:cNvPr>
          <p:cNvGrpSpPr/>
          <p:nvPr/>
        </p:nvGrpSpPr>
        <p:grpSpPr>
          <a:xfrm>
            <a:off x="8050477" y="1851484"/>
            <a:ext cx="2177113" cy="1386736"/>
            <a:chOff x="8050477" y="1851484"/>
            <a:chExt cx="2177113" cy="138673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C813F63-DFD2-C1DF-27C1-BDB146947FF8}"/>
                </a:ext>
              </a:extLst>
            </p:cNvPr>
            <p:cNvSpPr/>
            <p:nvPr/>
          </p:nvSpPr>
          <p:spPr>
            <a:xfrm>
              <a:off x="8050477" y="2017651"/>
              <a:ext cx="2177113" cy="1146968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4" name="Stat3Txt">
              <a:extLst>
                <a:ext uri="{FF2B5EF4-FFF2-40B4-BE49-F238E27FC236}">
                  <a16:creationId xmlns:a16="http://schemas.microsoft.com/office/drawing/2014/main" id="{98F57966-B599-404A-89E2-E04030D55FD8}"/>
                </a:ext>
              </a:extLst>
            </p:cNvPr>
            <p:cNvSpPr/>
            <p:nvPr/>
          </p:nvSpPr>
          <p:spPr>
            <a:xfrm>
              <a:off x="8233358" y="1851484"/>
              <a:ext cx="1701340" cy="138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51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MCP Integrations</a:t>
              </a:r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357B4-10F7-5B0F-BDBD-E9C73076A5A0}"/>
              </a:ext>
            </a:extLst>
          </p:cNvPr>
          <p:cNvSpPr txBox="1">
            <a:spLocks/>
          </p:cNvSpPr>
          <p:nvPr/>
        </p:nvSpPr>
        <p:spPr>
          <a:xfrm>
            <a:off x="438867" y="1032574"/>
            <a:ext cx="4571600" cy="29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/>
            <a:r>
              <a:rPr 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February 2026 to Now</a:t>
            </a:r>
          </a:p>
        </p:txBody>
      </p:sp>
    </p:spTree>
    <p:extLst>
      <p:ext uri="{BB962C8B-B14F-4D97-AF65-F5344CB8AC3E}">
        <p14:creationId xmlns:p14="http://schemas.microsoft.com/office/powerpoint/2010/main" val="3643927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6FC4-3A55-1B7B-E705-4C608564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OpenClaw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B6DF1-EE7D-306E-E8B7-AF2FDB19B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The Foundation of Agentic AI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3A362-472E-202B-B4DA-AC9DDD3167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6" y="1737907"/>
            <a:ext cx="7122823" cy="1094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400" dirty="0"/>
              <a:t>Released November 2025 by Peter Steinberger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60,000 GitHub stars in days - fastest-growing open source project in history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Jensen Huang called it "the operating system for personal AI"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Open-source AI agent framework and runtime environment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Supports 30+ AI providers (Anthropic, OpenAI, Bedrock, Vertex, local models)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20+ communication channels out of the box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Not a chatbot. Not a copilot. An autonomous coworker.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630CEE9-6DF5-E8AC-2DC8-9E2E68680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22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C797-9AB0-FA84-95B2-A5C49838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6742668" cy="514104"/>
          </a:xfrm>
        </p:spPr>
        <p:txBody>
          <a:bodyPr/>
          <a:lstStyle/>
          <a:p>
            <a:r>
              <a:rPr lang="en-US" dirty="0" err="1"/>
              <a:t>OpenClaw</a:t>
            </a:r>
            <a:r>
              <a:rPr lang="en-US" dirty="0"/>
              <a:t> Changed Everything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542BA-AF37-1ACA-3DF4-05ADAFA7D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From AI You Talk To, to AI That Acts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392C0A-A5BD-238D-B8F2-4660BF504826}"/>
              </a:ext>
            </a:extLst>
          </p:cNvPr>
          <p:cNvGrpSpPr/>
          <p:nvPr/>
        </p:nvGrpSpPr>
        <p:grpSpPr>
          <a:xfrm>
            <a:off x="5128773" y="2050467"/>
            <a:ext cx="4105523" cy="2757066"/>
            <a:chOff x="5128773" y="2050467"/>
            <a:chExt cx="4105523" cy="2757066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83978C0-0F44-3655-BBAA-5B4E703D3FD7}"/>
                </a:ext>
              </a:extLst>
            </p:cNvPr>
            <p:cNvSpPr/>
            <p:nvPr/>
          </p:nvSpPr>
          <p:spPr>
            <a:xfrm>
              <a:off x="5128773" y="2050467"/>
              <a:ext cx="4105523" cy="275706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19969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BBCC704C-E08B-0F34-906A-2CCCDE256608}"/>
                </a:ext>
              </a:extLst>
            </p:cNvPr>
            <p:cNvSpPr txBox="1">
              <a:spLocks/>
            </p:cNvSpPr>
            <p:nvPr/>
          </p:nvSpPr>
          <p:spPr>
            <a:xfrm>
              <a:off x="5481115" y="2390806"/>
              <a:ext cx="3558980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After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Agents that own the outcome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Autonomous multi-step workflows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Conversation IS the interface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Reasoning-driven decisions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6BB5DF-3F65-93A5-E822-774A8467DE2B}"/>
              </a:ext>
            </a:extLst>
          </p:cNvPr>
          <p:cNvGrpSpPr/>
          <p:nvPr/>
        </p:nvGrpSpPr>
        <p:grpSpPr>
          <a:xfrm>
            <a:off x="438867" y="2050467"/>
            <a:ext cx="4105523" cy="2757066"/>
            <a:chOff x="438867" y="2050467"/>
            <a:chExt cx="4105523" cy="275706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DCD965D-DF7C-D252-D85D-024395674348}"/>
                </a:ext>
              </a:extLst>
            </p:cNvPr>
            <p:cNvSpPr/>
            <p:nvPr/>
          </p:nvSpPr>
          <p:spPr>
            <a:xfrm>
              <a:off x="438867" y="2050467"/>
              <a:ext cx="4105523" cy="275706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1">
                    <a:lumMod val="50000"/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 Placeholder 3">
              <a:extLst>
                <a:ext uri="{FF2B5EF4-FFF2-40B4-BE49-F238E27FC236}">
                  <a16:creationId xmlns:a16="http://schemas.microsoft.com/office/drawing/2014/main" id="{D484D2F9-BD8C-AE0B-AD21-758AF4EF0E74}"/>
                </a:ext>
              </a:extLst>
            </p:cNvPr>
            <p:cNvSpPr txBox="1">
              <a:spLocks/>
            </p:cNvSpPr>
            <p:nvPr/>
          </p:nvSpPr>
          <p:spPr>
            <a:xfrm>
              <a:off x="787014" y="2390806"/>
              <a:ext cx="3558980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Before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Chatbots that suggest actions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Manual tool execution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Context-switching between apps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Template-driven automation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4528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2966-4E47-BB9D-40A9-BCC329D9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OpenClaw's</a:t>
            </a:r>
            <a:r>
              <a:rPr lang="en-US" dirty="0"/>
              <a:t> Security Crisis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302E7-9B20-2DE0-E3A6-640A4D7D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255536"/>
          </a:xfrm>
        </p:spPr>
        <p:txBody>
          <a:bodyPr/>
          <a:lstStyle/>
          <a:p>
            <a:r>
              <a:rPr lang="en-US" dirty="0"/>
              <a:t>Power Creates Responsibility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1A2CEC-7DC2-32A4-A2B7-17528831FBA6}"/>
              </a:ext>
            </a:extLst>
          </p:cNvPr>
          <p:cNvGrpSpPr/>
          <p:nvPr/>
        </p:nvGrpSpPr>
        <p:grpSpPr>
          <a:xfrm>
            <a:off x="438867" y="1744276"/>
            <a:ext cx="3425467" cy="1396489"/>
            <a:chOff x="438867" y="1744276"/>
            <a:chExt cx="3425467" cy="139648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88E333E-9221-EDBC-F0A2-311BAF8BDB8D}"/>
                </a:ext>
              </a:extLst>
            </p:cNvPr>
            <p:cNvSpPr/>
            <p:nvPr/>
          </p:nvSpPr>
          <p:spPr>
            <a:xfrm>
              <a:off x="438867" y="1744276"/>
              <a:ext cx="3425467" cy="1396489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4A2AD4-1B42-DD45-15CC-9602243F7B13}"/>
                </a:ext>
              </a:extLst>
            </p:cNvPr>
            <p:cNvSpPr txBox="1"/>
            <p:nvPr/>
          </p:nvSpPr>
          <p:spPr>
            <a:xfrm>
              <a:off x="672305" y="1944562"/>
              <a:ext cx="3136370" cy="9207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lnSpc>
                  <a:spcPts val="1800"/>
                </a:lnSpc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rgbClr val="FF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       CVE-2026-25253</a:t>
              </a:r>
            </a:p>
            <a:p>
              <a:pPr marL="0" indent="0">
                <a:lnSpc>
                  <a:spcPts val="1800"/>
                </a:lnSpc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Critical RCE - visiting a single malicious webpage could hijack your agent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5C8CD82-3BC5-860B-C0E4-D498CAFC57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33839" y="1989801"/>
              <a:ext cx="228600" cy="2286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224576B-CE54-6B9D-4540-C728CBCB423D}"/>
              </a:ext>
            </a:extLst>
          </p:cNvPr>
          <p:cNvGrpSpPr/>
          <p:nvPr/>
        </p:nvGrpSpPr>
        <p:grpSpPr>
          <a:xfrm>
            <a:off x="438867" y="3504814"/>
            <a:ext cx="2532709" cy="1409092"/>
            <a:chOff x="438867" y="3504814"/>
            <a:chExt cx="2532709" cy="1409092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9942CAC-E4B3-0A0D-B3D6-8452183ACF44}"/>
                </a:ext>
              </a:extLst>
            </p:cNvPr>
            <p:cNvSpPr/>
            <p:nvPr/>
          </p:nvSpPr>
          <p:spPr>
            <a:xfrm>
              <a:off x="438867" y="3504814"/>
              <a:ext cx="2532709" cy="140909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0" name="Stat3Txt">
              <a:extLst>
                <a:ext uri="{FF2B5EF4-FFF2-40B4-BE49-F238E27FC236}">
                  <a16:creationId xmlns:a16="http://schemas.microsoft.com/office/drawing/2014/main" id="{19BF82EA-5629-89F5-B03F-D82FD50CF51A}"/>
                </a:ext>
              </a:extLst>
            </p:cNvPr>
            <p:cNvSpPr/>
            <p:nvPr/>
          </p:nvSpPr>
          <p:spPr>
            <a:xfrm>
              <a:off x="733839" y="3641697"/>
              <a:ext cx="1979226" cy="104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135K+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Exposed instances on the public internet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446349B-29B1-9829-3321-4B45461021F5}"/>
              </a:ext>
            </a:extLst>
          </p:cNvPr>
          <p:cNvGrpSpPr/>
          <p:nvPr/>
        </p:nvGrpSpPr>
        <p:grpSpPr>
          <a:xfrm>
            <a:off x="3246784" y="3504814"/>
            <a:ext cx="2532709" cy="1409092"/>
            <a:chOff x="3246784" y="3504814"/>
            <a:chExt cx="2532709" cy="1409092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5ACA7C6-9015-5E6B-2B35-B707F1441A68}"/>
                </a:ext>
              </a:extLst>
            </p:cNvPr>
            <p:cNvSpPr/>
            <p:nvPr/>
          </p:nvSpPr>
          <p:spPr>
            <a:xfrm>
              <a:off x="3246784" y="3504814"/>
              <a:ext cx="2532709" cy="140909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2" name="Stat3Txt">
              <a:extLst>
                <a:ext uri="{FF2B5EF4-FFF2-40B4-BE49-F238E27FC236}">
                  <a16:creationId xmlns:a16="http://schemas.microsoft.com/office/drawing/2014/main" id="{1BFFB357-7584-834B-20D5-F8C072B08F98}"/>
                </a:ext>
              </a:extLst>
            </p:cNvPr>
            <p:cNvSpPr/>
            <p:nvPr/>
          </p:nvSpPr>
          <p:spPr>
            <a:xfrm>
              <a:off x="3541756" y="3641697"/>
              <a:ext cx="1979226" cy="104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800+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Malicious skills planted in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ClawHub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 (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ClawHavoc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 attack)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B54A06-94D0-B8A2-640D-91E82433EC50}"/>
              </a:ext>
            </a:extLst>
          </p:cNvPr>
          <p:cNvGrpSpPr/>
          <p:nvPr/>
        </p:nvGrpSpPr>
        <p:grpSpPr>
          <a:xfrm>
            <a:off x="6057446" y="3504814"/>
            <a:ext cx="2532709" cy="1409092"/>
            <a:chOff x="6057446" y="3504814"/>
            <a:chExt cx="2532709" cy="1409092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9D0F079-9CCE-1424-D874-30F97BA35250}"/>
                </a:ext>
              </a:extLst>
            </p:cNvPr>
            <p:cNvSpPr/>
            <p:nvPr/>
          </p:nvSpPr>
          <p:spPr>
            <a:xfrm>
              <a:off x="6057446" y="3504814"/>
              <a:ext cx="2532709" cy="140909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4" name="Stat3Txt">
              <a:extLst>
                <a:ext uri="{FF2B5EF4-FFF2-40B4-BE49-F238E27FC236}">
                  <a16:creationId xmlns:a16="http://schemas.microsoft.com/office/drawing/2014/main" id="{4351747F-DB86-EDE5-8D08-0EAC47B31519}"/>
                </a:ext>
              </a:extLst>
            </p:cNvPr>
            <p:cNvSpPr/>
            <p:nvPr/>
          </p:nvSpPr>
          <p:spPr>
            <a:xfrm>
              <a:off x="6352418" y="3641697"/>
              <a:ext cx="1909760" cy="104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20%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Of the entire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ClawHub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 registry compromised</a:t>
              </a:r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59B277C-243F-CBB9-B5BD-98F5D059A6BC}"/>
              </a:ext>
            </a:extLst>
          </p:cNvPr>
          <p:cNvSpPr txBox="1">
            <a:spLocks/>
          </p:cNvSpPr>
          <p:nvPr/>
        </p:nvSpPr>
        <p:spPr>
          <a:xfrm>
            <a:off x="438867" y="5445549"/>
            <a:ext cx="4571600" cy="25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This is why </a:t>
            </a:r>
            <a:r>
              <a:rPr lang="en-US" dirty="0" err="1">
                <a:solidFill>
                  <a:schemeClr val="accent2"/>
                </a:solidFill>
              </a:rPr>
              <a:t>DefenseClaw</a:t>
            </a:r>
            <a:r>
              <a:rPr lang="en-US" dirty="0">
                <a:solidFill>
                  <a:schemeClr val="accent2"/>
                </a:solidFill>
              </a:rPr>
              <a:t> and </a:t>
            </a:r>
            <a:r>
              <a:rPr lang="en-US" dirty="0" err="1">
                <a:solidFill>
                  <a:schemeClr val="accent2"/>
                </a:solidFill>
              </a:rPr>
              <a:t>OpenShell</a:t>
            </a:r>
            <a:r>
              <a:rPr lang="en-US" dirty="0">
                <a:solidFill>
                  <a:schemeClr val="accent2"/>
                </a:solidFill>
              </a:rPr>
              <a:t> exist.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561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76E7-DC90-2B9A-B875-6C3C40823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Enter </a:t>
            </a:r>
            <a:r>
              <a:rPr lang="en-US" dirty="0" err="1"/>
              <a:t>NetClaw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C76D3-9DC3-CF0E-559B-35AC7EEDC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319147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 CCIE-Level AI Network Engineering Coworker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BB50E-1759-4576-DE84-5F7ADDFCBC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676631"/>
            <a:ext cx="6709356" cy="1094800"/>
          </a:xfrm>
        </p:spPr>
        <p:txBody>
          <a:bodyPr/>
          <a:lstStyle/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 err="1"/>
              <a:t>OpenClaw</a:t>
            </a:r>
            <a:r>
              <a:rPr lang="en-US" sz="1400" dirty="0"/>
              <a:t> variant built specifically for enterprise networking</a:t>
            </a:r>
          </a:p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/>
              <a:t>Not a chatbot - a coworker that reasons about networks</a:t>
            </a:r>
          </a:p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/>
              <a:t>Automates the reasoning, not just the commands</a:t>
            </a:r>
          </a:p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/>
              <a:t>Follows CCIE-level OSI troubleshooting methodology</a:t>
            </a:r>
          </a:p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/>
              <a:t>Composable skills - topology feeds diagrams, security feeds compliance</a:t>
            </a:r>
          </a:p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/>
              <a:t>112 skills + 51 MCP integrations for full network automation</a:t>
            </a:r>
          </a:p>
          <a:p>
            <a:pPr>
              <a:lnSpc>
                <a:spcPts val="2000"/>
              </a:lnSpc>
              <a:spcAft>
                <a:spcPts val="1200"/>
              </a:spcAft>
            </a:pPr>
            <a:r>
              <a:rPr lang="en-US" sz="1400" dirty="0"/>
              <a:t>BYOM + BYOMCP + BYOSKILL - bring your own everything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04EA33-572E-E74B-CD55-2FCD23A03B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91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B53E-9438-0655-6672-A77E2F08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Three-Tier Architecture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413AFA-C589-3819-FD0C-9225B114A6BB}"/>
              </a:ext>
            </a:extLst>
          </p:cNvPr>
          <p:cNvGrpSpPr/>
          <p:nvPr/>
        </p:nvGrpSpPr>
        <p:grpSpPr>
          <a:xfrm>
            <a:off x="438868" y="1740365"/>
            <a:ext cx="3513480" cy="3205345"/>
            <a:chOff x="438868" y="1740365"/>
            <a:chExt cx="3513480" cy="320534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F0B36BA-13E3-556A-3D58-BDF21384731E}"/>
                </a:ext>
              </a:extLst>
            </p:cNvPr>
            <p:cNvSpPr/>
            <p:nvPr/>
          </p:nvSpPr>
          <p:spPr>
            <a:xfrm>
              <a:off x="438868" y="1740365"/>
              <a:ext cx="3513480" cy="320534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4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3149A2BB-6723-F335-55CE-D17A9C803491}"/>
                </a:ext>
              </a:extLst>
            </p:cNvPr>
            <p:cNvSpPr txBox="1">
              <a:spLocks/>
            </p:cNvSpPr>
            <p:nvPr/>
          </p:nvSpPr>
          <p:spPr>
            <a:xfrm>
              <a:off x="736810" y="2080705"/>
              <a:ext cx="3045752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User Interface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 err="1"/>
                <a:t>OpenClaw</a:t>
              </a:r>
              <a:r>
                <a:rPr lang="en-US" sz="1400" dirty="0"/>
                <a:t> Chat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 err="1"/>
                <a:t>OpenClaw</a:t>
              </a:r>
              <a:r>
                <a:rPr lang="en-US" sz="1400" dirty="0"/>
                <a:t> Gateway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Slack / Discord / </a:t>
              </a:r>
              <a:r>
                <a:rPr lang="en-US" sz="1400" dirty="0" err="1"/>
                <a:t>WebEx</a:t>
              </a:r>
              <a:endParaRPr lang="en-US" sz="1400" dirty="0"/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Telegram / WhatsApp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Visual 3D HUD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3745466-E0F8-351B-ACEB-6274AF24721B}"/>
              </a:ext>
            </a:extLst>
          </p:cNvPr>
          <p:cNvGrpSpPr/>
          <p:nvPr/>
        </p:nvGrpSpPr>
        <p:grpSpPr>
          <a:xfrm>
            <a:off x="4215463" y="1740365"/>
            <a:ext cx="3513480" cy="3205345"/>
            <a:chOff x="4215463" y="1740365"/>
            <a:chExt cx="3513480" cy="320534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A8F1FA-5476-71C1-2031-7B15690F162A}"/>
                </a:ext>
              </a:extLst>
            </p:cNvPr>
            <p:cNvSpPr/>
            <p:nvPr/>
          </p:nvSpPr>
          <p:spPr>
            <a:xfrm>
              <a:off x="4215463" y="1740365"/>
              <a:ext cx="3513480" cy="320534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22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F5761782-6A36-874F-9642-E9BEDEB38268}"/>
                </a:ext>
              </a:extLst>
            </p:cNvPr>
            <p:cNvSpPr txBox="1">
              <a:spLocks/>
            </p:cNvSpPr>
            <p:nvPr/>
          </p:nvSpPr>
          <p:spPr>
            <a:xfrm>
              <a:off x="4513405" y="2080705"/>
              <a:ext cx="3045752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Core Agent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Claude LLM (or any provider)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112 Skills across 16 domains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6 Workspace Config Files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 err="1"/>
                <a:t>SOUL.md</a:t>
              </a:r>
              <a:r>
                <a:rPr lang="en-US" sz="1400" dirty="0"/>
                <a:t> - Agent Personality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 err="1"/>
                <a:t>AGENTS.md</a:t>
              </a:r>
              <a:r>
                <a:rPr lang="en-US" sz="1400" dirty="0"/>
                <a:t> - Memory System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98ADE4-DC94-407A-B507-8EF0474E6D09}"/>
              </a:ext>
            </a:extLst>
          </p:cNvPr>
          <p:cNvGrpSpPr/>
          <p:nvPr/>
        </p:nvGrpSpPr>
        <p:grpSpPr>
          <a:xfrm>
            <a:off x="7992058" y="1740365"/>
            <a:ext cx="3513480" cy="3205345"/>
            <a:chOff x="7992058" y="1740365"/>
            <a:chExt cx="3513480" cy="320534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D14EC54-34BF-7FC5-B08E-555C7068E707}"/>
                </a:ext>
              </a:extLst>
            </p:cNvPr>
            <p:cNvSpPr/>
            <p:nvPr/>
          </p:nvSpPr>
          <p:spPr>
            <a:xfrm>
              <a:off x="7992058" y="1740365"/>
              <a:ext cx="3513480" cy="320534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044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AB2CA98D-1F2B-627D-7C31-228FAB3BE773}"/>
                </a:ext>
              </a:extLst>
            </p:cNvPr>
            <p:cNvSpPr txBox="1">
              <a:spLocks/>
            </p:cNvSpPr>
            <p:nvPr/>
          </p:nvSpPr>
          <p:spPr>
            <a:xfrm>
              <a:off x="8290000" y="2080705"/>
              <a:ext cx="3045752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Tool Backend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51 MCP Servers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JSON-RPC 2.0 </a:t>
              </a:r>
              <a:r>
                <a:rPr lang="en-US" sz="1400" dirty="0" err="1"/>
                <a:t>stdio</a:t>
              </a:r>
              <a:endParaRPr lang="en-US" sz="1400" dirty="0"/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 err="1"/>
                <a:t>pyATS</a:t>
              </a:r>
              <a:r>
                <a:rPr lang="en-US" sz="1400" dirty="0"/>
                <a:t> Device Automation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Platform API Integrations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Utility &amp; Observability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9749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E446-F130-BC29-D97F-5236A3B8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LLM Configuration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AC99A-61F1-83AB-FE99-A97F099F3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1159796"/>
            <a:ext cx="5119095" cy="263487"/>
          </a:xfrm>
        </p:spPr>
        <p:txBody>
          <a:bodyPr/>
          <a:lstStyle/>
          <a:p>
            <a:r>
              <a:rPr lang="en-US" dirty="0"/>
              <a:t>Choose Your Model During Install - Cloud or Local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3B7E9D-48AE-BF1E-3BAB-B7422F392FD9}"/>
              </a:ext>
            </a:extLst>
          </p:cNvPr>
          <p:cNvGrpSpPr/>
          <p:nvPr/>
        </p:nvGrpSpPr>
        <p:grpSpPr>
          <a:xfrm>
            <a:off x="510425" y="1974846"/>
            <a:ext cx="3661474" cy="428436"/>
            <a:chOff x="510425" y="1974846"/>
            <a:chExt cx="3661474" cy="42843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77BD473-6921-0630-F646-867390951E70}"/>
                </a:ext>
              </a:extLst>
            </p:cNvPr>
            <p:cNvSpPr/>
            <p:nvPr/>
          </p:nvSpPr>
          <p:spPr>
            <a:xfrm>
              <a:off x="510425" y="1974846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3879769-6D70-A8EF-8E1A-7485A31C6F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10343" y="2074764"/>
              <a:ext cx="228600" cy="228600"/>
            </a:xfrm>
            <a:prstGeom prst="rect">
              <a:avLst/>
            </a:prstGeom>
          </p:spPr>
        </p:pic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83811B75-0077-F2D8-1532-E8B06FFA06AB}"/>
                </a:ext>
              </a:extLst>
            </p:cNvPr>
            <p:cNvSpPr txBox="1">
              <a:spLocks/>
            </p:cNvSpPr>
            <p:nvPr/>
          </p:nvSpPr>
          <p:spPr>
            <a:xfrm>
              <a:off x="1126147" y="2074764"/>
              <a:ext cx="3045752" cy="26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Cloud Providers</a:t>
              </a:r>
              <a:endParaRPr lang="en-US" sz="1400" dirty="0"/>
            </a:p>
          </p:txBody>
        </p:sp>
      </p:grp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13AEC0-30E6-3EBC-0658-9A05C91BFBB9}"/>
              </a:ext>
            </a:extLst>
          </p:cNvPr>
          <p:cNvSpPr txBox="1">
            <a:spLocks/>
          </p:cNvSpPr>
          <p:nvPr/>
        </p:nvSpPr>
        <p:spPr>
          <a:xfrm>
            <a:off x="510425" y="2503200"/>
            <a:ext cx="3045752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Anthropic Claude (Primary)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OpenAI (GPT-4o, Codex)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AWS Bedrock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Google Vertex AI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Azure OpenAI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30+ additional providers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461872-033F-C467-959E-0999EB6F6120}"/>
              </a:ext>
            </a:extLst>
          </p:cNvPr>
          <p:cNvSpPr txBox="1">
            <a:spLocks/>
          </p:cNvSpPr>
          <p:nvPr/>
        </p:nvSpPr>
        <p:spPr>
          <a:xfrm>
            <a:off x="4915448" y="2503200"/>
            <a:ext cx="3045752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Ollama (any model)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NVIDIA </a:t>
            </a:r>
            <a:r>
              <a:rPr lang="en-US" sz="1200" dirty="0" err="1"/>
              <a:t>Nemotron</a:t>
            </a:r>
            <a:endParaRPr lang="en-US" sz="1200" dirty="0"/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Local GPU (RTX 5060 Ti+)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DGX Spark / DGX Station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Air-gapped environments</a:t>
            </a:r>
          </a:p>
          <a:p>
            <a:pPr marL="285750">
              <a:spcBef>
                <a:spcPts val="1200"/>
              </a:spcBef>
              <a:spcAft>
                <a:spcPts val="600"/>
              </a:spcAft>
            </a:pPr>
            <a:r>
              <a:rPr lang="en-US" sz="1200" dirty="0"/>
              <a:t>Full data sovereignty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B5AA4E-20D5-F38B-E049-6AFAD102A8B4}"/>
              </a:ext>
            </a:extLst>
          </p:cNvPr>
          <p:cNvGrpSpPr/>
          <p:nvPr/>
        </p:nvGrpSpPr>
        <p:grpSpPr>
          <a:xfrm>
            <a:off x="4915448" y="1974846"/>
            <a:ext cx="3661474" cy="428436"/>
            <a:chOff x="4915448" y="1974846"/>
            <a:chExt cx="3661474" cy="42843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531BAA8-7604-9E31-B80A-35513BFC89A7}"/>
                </a:ext>
              </a:extLst>
            </p:cNvPr>
            <p:cNvSpPr/>
            <p:nvPr/>
          </p:nvSpPr>
          <p:spPr>
            <a:xfrm>
              <a:off x="4915448" y="1974846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53EB0533-4A03-AF9C-7CA8-1D9D0B2ACC59}"/>
                </a:ext>
              </a:extLst>
            </p:cNvPr>
            <p:cNvSpPr txBox="1">
              <a:spLocks/>
            </p:cNvSpPr>
            <p:nvPr/>
          </p:nvSpPr>
          <p:spPr>
            <a:xfrm>
              <a:off x="5531170" y="2074764"/>
              <a:ext cx="3045752" cy="26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Local Models</a:t>
              </a:r>
              <a:endParaRPr lang="en-US" sz="1400" dirty="0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4F5AC9B-EA77-83D3-5909-28077570C7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18418" y="2076305"/>
              <a:ext cx="228600" cy="2286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65F131-CF30-77F1-D0D5-ED509F683B7E}"/>
              </a:ext>
            </a:extLst>
          </p:cNvPr>
          <p:cNvGrpSpPr/>
          <p:nvPr/>
        </p:nvGrpSpPr>
        <p:grpSpPr>
          <a:xfrm>
            <a:off x="438866" y="5452708"/>
            <a:ext cx="6701405" cy="490991"/>
            <a:chOff x="438866" y="5452708"/>
            <a:chExt cx="6701405" cy="490991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13BDFA3A-3AD9-AD00-5D97-7B8639F53B9B}"/>
                </a:ext>
              </a:extLst>
            </p:cNvPr>
            <p:cNvSpPr/>
            <p:nvPr/>
          </p:nvSpPr>
          <p:spPr>
            <a:xfrm>
              <a:off x="438866" y="5452708"/>
              <a:ext cx="6701405" cy="490991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22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 Placeholder 2">
              <a:extLst>
                <a:ext uri="{FF2B5EF4-FFF2-40B4-BE49-F238E27FC236}">
                  <a16:creationId xmlns:a16="http://schemas.microsoft.com/office/drawing/2014/main" id="{D2C67C00-D8FF-FD35-4C6E-1C8B36D1EFD8}"/>
                </a:ext>
              </a:extLst>
            </p:cNvPr>
            <p:cNvSpPr txBox="1">
              <a:spLocks/>
            </p:cNvSpPr>
            <p:nvPr/>
          </p:nvSpPr>
          <p:spPr>
            <a:xfrm>
              <a:off x="653084" y="5574410"/>
              <a:ext cx="5119095" cy="26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 dirty="0">
                  <a:solidFill>
                    <a:schemeClr val="accent2"/>
                  </a:solidFill>
                </a:rPr>
                <a:t>BYOM - Bring Your Own Model. Swap at any time.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ED46C98C-37D1-8FCB-AAAD-E6257EF4D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24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46E7-0A0A-4F33-9024-384E3A87B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Communication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CD53-100B-9003-D366-64F1E483E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295293"/>
          </a:xfrm>
        </p:spPr>
        <p:txBody>
          <a:bodyPr/>
          <a:lstStyle/>
          <a:p>
            <a:r>
              <a:rPr lang="en-US" dirty="0"/>
              <a:t>Talk to </a:t>
            </a:r>
            <a:r>
              <a:rPr lang="en-US" dirty="0" err="1"/>
              <a:t>NetClaw</a:t>
            </a:r>
            <a:r>
              <a:rPr lang="en-US" dirty="0"/>
              <a:t> Where Your Team Already Lives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A3034FF-9FB7-ED93-C8CB-36570A181CF4}"/>
              </a:ext>
            </a:extLst>
          </p:cNvPr>
          <p:cNvSpPr/>
          <p:nvPr/>
        </p:nvSpPr>
        <p:spPr>
          <a:xfrm>
            <a:off x="438867" y="262989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545982D-3EAA-7294-178B-33B098D43210}"/>
              </a:ext>
            </a:extLst>
          </p:cNvPr>
          <p:cNvSpPr/>
          <p:nvPr/>
        </p:nvSpPr>
        <p:spPr>
          <a:xfrm>
            <a:off x="2496267" y="262989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1049D83-F190-CDF4-9D8D-9EB38AAB4EEA}"/>
              </a:ext>
            </a:extLst>
          </p:cNvPr>
          <p:cNvSpPr/>
          <p:nvPr/>
        </p:nvSpPr>
        <p:spPr>
          <a:xfrm>
            <a:off x="4553667" y="262989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55ACED1-00EA-4E1C-BD21-63FC57D847AB}"/>
              </a:ext>
            </a:extLst>
          </p:cNvPr>
          <p:cNvSpPr/>
          <p:nvPr/>
        </p:nvSpPr>
        <p:spPr>
          <a:xfrm>
            <a:off x="438867" y="349857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B796CF6-FD1E-5663-C648-C7A706BB0AFA}"/>
              </a:ext>
            </a:extLst>
          </p:cNvPr>
          <p:cNvSpPr/>
          <p:nvPr/>
        </p:nvSpPr>
        <p:spPr>
          <a:xfrm>
            <a:off x="2496267" y="349857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3F95ED3-1041-2B54-53DA-E3FBB1C3A2B6}"/>
              </a:ext>
            </a:extLst>
          </p:cNvPr>
          <p:cNvSpPr/>
          <p:nvPr/>
        </p:nvSpPr>
        <p:spPr>
          <a:xfrm>
            <a:off x="4553667" y="349857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BCFA1A9-FEEB-FBCC-F82B-6E6AA213D0D7}"/>
              </a:ext>
            </a:extLst>
          </p:cNvPr>
          <p:cNvSpPr/>
          <p:nvPr/>
        </p:nvSpPr>
        <p:spPr>
          <a:xfrm>
            <a:off x="6611067" y="349857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B1FE024-C09F-975A-00CB-589739AE05CE}"/>
              </a:ext>
            </a:extLst>
          </p:cNvPr>
          <p:cNvSpPr/>
          <p:nvPr/>
        </p:nvSpPr>
        <p:spPr>
          <a:xfrm>
            <a:off x="438867" y="436725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D247566-ED72-DACD-7E43-0DE6EFFC226D}"/>
              </a:ext>
            </a:extLst>
          </p:cNvPr>
          <p:cNvSpPr/>
          <p:nvPr/>
        </p:nvSpPr>
        <p:spPr>
          <a:xfrm>
            <a:off x="2496267" y="436725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BD23D11-D605-73CD-E788-BB27C0DAF431}"/>
              </a:ext>
            </a:extLst>
          </p:cNvPr>
          <p:cNvSpPr/>
          <p:nvPr/>
        </p:nvSpPr>
        <p:spPr>
          <a:xfrm>
            <a:off x="2496267" y="436725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3D HUD</a:t>
            </a:r>
            <a:endParaRPr lang="en-US" sz="11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821B2F5-0F64-B45E-9F3C-E37CA2723709}"/>
              </a:ext>
            </a:extLst>
          </p:cNvPr>
          <p:cNvSpPr/>
          <p:nvPr/>
        </p:nvSpPr>
        <p:spPr>
          <a:xfrm>
            <a:off x="4553667" y="436725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350D8A6-F795-F63C-B691-2F937CF81435}"/>
              </a:ext>
            </a:extLst>
          </p:cNvPr>
          <p:cNvSpPr/>
          <p:nvPr/>
        </p:nvSpPr>
        <p:spPr>
          <a:xfrm>
            <a:off x="6611067" y="4367254"/>
            <a:ext cx="1828800" cy="640080"/>
          </a:xfrm>
          <a:prstGeom prst="rect">
            <a:avLst/>
          </a:prstGeom>
          <a:gradFill>
            <a:gsLst>
              <a:gs pos="14000">
                <a:schemeClr val="accent1">
                  <a:alpha val="9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D0FF46-EBE0-22AC-424B-5412F0FDF5A9}"/>
              </a:ext>
            </a:extLst>
          </p:cNvPr>
          <p:cNvGrpSpPr/>
          <p:nvPr/>
        </p:nvGrpSpPr>
        <p:grpSpPr>
          <a:xfrm>
            <a:off x="438867" y="1761214"/>
            <a:ext cx="1828800" cy="640080"/>
            <a:chOff x="438867" y="1761214"/>
            <a:chExt cx="1828800" cy="64008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A1312F50-74D3-CCAB-9673-F96AFEA8A759}"/>
                </a:ext>
              </a:extLst>
            </p:cNvPr>
            <p:cNvSpPr/>
            <p:nvPr/>
          </p:nvSpPr>
          <p:spPr>
            <a:xfrm>
              <a:off x="4388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4D13E1A3-4745-8881-EE6F-067DD0E9542F}"/>
                </a:ext>
              </a:extLst>
            </p:cNvPr>
            <p:cNvSpPr/>
            <p:nvPr/>
          </p:nvSpPr>
          <p:spPr>
            <a:xfrm>
              <a:off x="4388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2AF29572-BDBD-35F7-E8EF-B36A2178C4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7449" t="28933" r="6311" b="34980"/>
            <a:stretch>
              <a:fillRect/>
            </a:stretch>
          </p:blipFill>
          <p:spPr>
            <a:xfrm>
              <a:off x="828481" y="1939163"/>
              <a:ext cx="1049572" cy="284181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E8472D-00EA-0462-B918-4DE7830EEA91}"/>
              </a:ext>
            </a:extLst>
          </p:cNvPr>
          <p:cNvGrpSpPr/>
          <p:nvPr/>
        </p:nvGrpSpPr>
        <p:grpSpPr>
          <a:xfrm>
            <a:off x="2496267" y="1761214"/>
            <a:ext cx="1828800" cy="640080"/>
            <a:chOff x="2496267" y="1761214"/>
            <a:chExt cx="1828800" cy="64008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59F587D0-9F84-E80D-4496-189135CB6501}"/>
                </a:ext>
              </a:extLst>
            </p:cNvPr>
            <p:cNvSpPr/>
            <p:nvPr/>
          </p:nvSpPr>
          <p:spPr>
            <a:xfrm>
              <a:off x="24962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5CDE4002-333B-8FE3-5E06-B9F09AFEED56}"/>
                </a:ext>
              </a:extLst>
            </p:cNvPr>
            <p:cNvSpPr/>
            <p:nvPr/>
          </p:nvSpPr>
          <p:spPr>
            <a:xfrm>
              <a:off x="24962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366E9BD-C38F-086B-C3C0-B4C8873F1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4806" y="1969220"/>
              <a:ext cx="1351722" cy="254124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3D8E698-1869-09B8-64F8-BD4E1B96B68F}"/>
              </a:ext>
            </a:extLst>
          </p:cNvPr>
          <p:cNvGrpSpPr/>
          <p:nvPr/>
        </p:nvGrpSpPr>
        <p:grpSpPr>
          <a:xfrm>
            <a:off x="438867" y="2629894"/>
            <a:ext cx="1828800" cy="640080"/>
            <a:chOff x="438867" y="2629894"/>
            <a:chExt cx="1828800" cy="640080"/>
          </a:xfrm>
        </p:grpSpPr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EFA1070E-A19B-1BBC-92AE-04641A2B3327}"/>
                </a:ext>
              </a:extLst>
            </p:cNvPr>
            <p:cNvSpPr/>
            <p:nvPr/>
          </p:nvSpPr>
          <p:spPr>
            <a:xfrm>
              <a:off x="438867" y="262989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2577A83-1525-B016-4600-0D3B76534D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2940" y="2701178"/>
              <a:ext cx="1400653" cy="49751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F40EA97-A713-83C8-0E71-564AD5C379FC}"/>
              </a:ext>
            </a:extLst>
          </p:cNvPr>
          <p:cNvGrpSpPr/>
          <p:nvPr/>
        </p:nvGrpSpPr>
        <p:grpSpPr>
          <a:xfrm>
            <a:off x="2496267" y="2629894"/>
            <a:ext cx="1828800" cy="640080"/>
            <a:chOff x="2496267" y="2629894"/>
            <a:chExt cx="1828800" cy="640080"/>
          </a:xfrm>
        </p:grpSpPr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7C62B4AA-54BA-2360-FAA5-684E908AA4A8}"/>
                </a:ext>
              </a:extLst>
            </p:cNvPr>
            <p:cNvSpPr/>
            <p:nvPr/>
          </p:nvSpPr>
          <p:spPr>
            <a:xfrm>
              <a:off x="2496267" y="262989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F4D1FDE-C7E5-E454-7653-81CE16766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08358" y="2709241"/>
              <a:ext cx="1604617" cy="481385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0903A-ADE9-53FA-5F66-01EE4F85587E}"/>
              </a:ext>
            </a:extLst>
          </p:cNvPr>
          <p:cNvGrpSpPr/>
          <p:nvPr/>
        </p:nvGrpSpPr>
        <p:grpSpPr>
          <a:xfrm>
            <a:off x="4553667" y="2629894"/>
            <a:ext cx="1828800" cy="640080"/>
            <a:chOff x="4553667" y="2629894"/>
            <a:chExt cx="1828800" cy="640080"/>
          </a:xfrm>
        </p:grpSpPr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8D181CD-EA6E-E355-49B3-CF40A77A6E34}"/>
                </a:ext>
              </a:extLst>
            </p:cNvPr>
            <p:cNvSpPr/>
            <p:nvPr/>
          </p:nvSpPr>
          <p:spPr>
            <a:xfrm>
              <a:off x="4553667" y="262989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6EB2257-90BF-4DA6-C27F-74CEA9931D98}"/>
                </a:ext>
              </a:extLst>
            </p:cNvPr>
            <p:cNvGrpSpPr/>
            <p:nvPr/>
          </p:nvGrpSpPr>
          <p:grpSpPr>
            <a:xfrm>
              <a:off x="5010467" y="2772298"/>
              <a:ext cx="1024821" cy="358556"/>
              <a:chOff x="5292752" y="5563760"/>
              <a:chExt cx="1205051" cy="42161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494F59A7-35AB-4DC0-BA1C-AC67DA666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biLevel thresh="25000"/>
              </a:blip>
              <a:srcRect l="43102"/>
              <a:stretch>
                <a:fillRect/>
              </a:stretch>
            </p:blipFill>
            <p:spPr>
              <a:xfrm>
                <a:off x="5812403" y="5563760"/>
                <a:ext cx="685400" cy="421613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D3D8A1D-2EC8-48E8-D48A-7343A9A2FF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56861"/>
              <a:stretch>
                <a:fillRect/>
              </a:stretch>
            </p:blipFill>
            <p:spPr>
              <a:xfrm>
                <a:off x="5292752" y="5563760"/>
                <a:ext cx="519651" cy="421613"/>
              </a:xfrm>
              <a:prstGeom prst="rect">
                <a:avLst/>
              </a:prstGeom>
            </p:spPr>
          </p:pic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F367A8-B624-277B-9407-B0A338113E8C}"/>
              </a:ext>
            </a:extLst>
          </p:cNvPr>
          <p:cNvGrpSpPr/>
          <p:nvPr/>
        </p:nvGrpSpPr>
        <p:grpSpPr>
          <a:xfrm>
            <a:off x="6611067" y="2629894"/>
            <a:ext cx="1828800" cy="640080"/>
            <a:chOff x="6611067" y="2629894"/>
            <a:chExt cx="1828800" cy="640080"/>
          </a:xfrm>
        </p:grpSpPr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B7C71647-4F82-0878-AD9F-B9943C74632C}"/>
                </a:ext>
              </a:extLst>
            </p:cNvPr>
            <p:cNvSpPr/>
            <p:nvPr/>
          </p:nvSpPr>
          <p:spPr>
            <a:xfrm>
              <a:off x="6611067" y="262989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22B7E20F-9D8D-9998-284A-503739900600}"/>
                </a:ext>
              </a:extLst>
            </p:cNvPr>
            <p:cNvSpPr/>
            <p:nvPr/>
          </p:nvSpPr>
          <p:spPr>
            <a:xfrm>
              <a:off x="6611067" y="262989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BF56ADE-AFB7-85C4-FD5C-39658B0CA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rcRect t="33485" b="33862"/>
            <a:stretch>
              <a:fillRect/>
            </a:stretch>
          </p:blipFill>
          <p:spPr>
            <a:xfrm>
              <a:off x="6908800" y="2750425"/>
              <a:ext cx="1221988" cy="399016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4E1BAA-8335-85EC-F16E-A54E1E51D7CF}"/>
              </a:ext>
            </a:extLst>
          </p:cNvPr>
          <p:cNvGrpSpPr/>
          <p:nvPr/>
        </p:nvGrpSpPr>
        <p:grpSpPr>
          <a:xfrm>
            <a:off x="438867" y="3498574"/>
            <a:ext cx="1828800" cy="640080"/>
            <a:chOff x="438867" y="3498574"/>
            <a:chExt cx="1828800" cy="640080"/>
          </a:xfrm>
        </p:grpSpPr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FF7EEB02-009A-1781-7B56-92B6360D208F}"/>
                </a:ext>
              </a:extLst>
            </p:cNvPr>
            <p:cNvSpPr/>
            <p:nvPr/>
          </p:nvSpPr>
          <p:spPr>
            <a:xfrm>
              <a:off x="438867" y="349857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F01A9F0-063A-8C02-1908-14496FC42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8481" y="3704645"/>
              <a:ext cx="227937" cy="227937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0E5FBDE-A661-CC0A-BBEE-09027B1F0E21}"/>
                </a:ext>
              </a:extLst>
            </p:cNvPr>
            <p:cNvSpPr txBox="1"/>
            <p:nvPr/>
          </p:nvSpPr>
          <p:spPr>
            <a:xfrm>
              <a:off x="1128372" y="3680113"/>
              <a:ext cx="103919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iMessage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A069030-B26C-E495-D461-C02F70ED9813}"/>
              </a:ext>
            </a:extLst>
          </p:cNvPr>
          <p:cNvGrpSpPr/>
          <p:nvPr/>
        </p:nvGrpSpPr>
        <p:grpSpPr>
          <a:xfrm>
            <a:off x="2496267" y="3498574"/>
            <a:ext cx="1828800" cy="640080"/>
            <a:chOff x="2496267" y="3498574"/>
            <a:chExt cx="1828800" cy="640080"/>
          </a:xfrm>
        </p:grpSpPr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62024C65-CFE1-8459-A4BC-EDFC83E4FB75}"/>
                </a:ext>
              </a:extLst>
            </p:cNvPr>
            <p:cNvSpPr/>
            <p:nvPr/>
          </p:nvSpPr>
          <p:spPr>
            <a:xfrm>
              <a:off x="2496267" y="349857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DABE041-20CF-CFC5-88C3-1541DF2DB4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48016" y="3621340"/>
              <a:ext cx="925300" cy="394544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217FE9-99CD-24C8-57D4-569BA1C609F5}"/>
              </a:ext>
            </a:extLst>
          </p:cNvPr>
          <p:cNvGrpSpPr/>
          <p:nvPr/>
        </p:nvGrpSpPr>
        <p:grpSpPr>
          <a:xfrm>
            <a:off x="4553667" y="3498574"/>
            <a:ext cx="1828800" cy="640080"/>
            <a:chOff x="4553667" y="3498574"/>
            <a:chExt cx="1828800" cy="640080"/>
          </a:xfrm>
        </p:grpSpPr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54F359C9-F0A3-A790-5D17-2240CC9768E6}"/>
                </a:ext>
              </a:extLst>
            </p:cNvPr>
            <p:cNvSpPr/>
            <p:nvPr/>
          </p:nvSpPr>
          <p:spPr>
            <a:xfrm>
              <a:off x="4553667" y="349857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1ECC9E5-8E79-E49A-E032-61E48ED49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4998" y="3702111"/>
              <a:ext cx="1406138" cy="233002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8DF7426-7F2B-56CF-84DB-ECB7EAEA16F2}"/>
              </a:ext>
            </a:extLst>
          </p:cNvPr>
          <p:cNvGrpSpPr/>
          <p:nvPr/>
        </p:nvGrpSpPr>
        <p:grpSpPr>
          <a:xfrm>
            <a:off x="6611067" y="3498574"/>
            <a:ext cx="1828800" cy="640080"/>
            <a:chOff x="6611067" y="3498574"/>
            <a:chExt cx="1828800" cy="640080"/>
          </a:xfrm>
        </p:grpSpPr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923BC06E-7621-D585-9445-0CA3604A0CF4}"/>
                </a:ext>
              </a:extLst>
            </p:cNvPr>
            <p:cNvSpPr/>
            <p:nvPr/>
          </p:nvSpPr>
          <p:spPr>
            <a:xfrm>
              <a:off x="6611067" y="349857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30A7056-E9B6-77F8-5544-E9AE2039D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16725" y="3581612"/>
              <a:ext cx="1406138" cy="28870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61542DD-1CB7-FF18-72C6-F518442E9687}"/>
                </a:ext>
              </a:extLst>
            </p:cNvPr>
            <p:cNvSpPr txBox="1"/>
            <p:nvPr/>
          </p:nvSpPr>
          <p:spPr>
            <a:xfrm>
              <a:off x="7000199" y="3830003"/>
              <a:ext cx="103919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CLI/TUI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2368AA4-8E26-AEAC-2391-3867FCB11948}"/>
              </a:ext>
            </a:extLst>
          </p:cNvPr>
          <p:cNvGrpSpPr/>
          <p:nvPr/>
        </p:nvGrpSpPr>
        <p:grpSpPr>
          <a:xfrm>
            <a:off x="438867" y="4367254"/>
            <a:ext cx="1828800" cy="640080"/>
            <a:chOff x="438867" y="4367254"/>
            <a:chExt cx="1828800" cy="640080"/>
          </a:xfrm>
        </p:grpSpPr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A77F5FE3-76EE-FB92-1A71-8BC0455DCEB5}"/>
                </a:ext>
              </a:extLst>
            </p:cNvPr>
            <p:cNvSpPr/>
            <p:nvPr/>
          </p:nvSpPr>
          <p:spPr>
            <a:xfrm>
              <a:off x="438867" y="436725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E0B4608-FC49-CAD7-0473-37E49EF73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6513" y="4456254"/>
              <a:ext cx="1406138" cy="28870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E5AC82D-4D96-28CA-44E1-34F908D57BA9}"/>
                </a:ext>
              </a:extLst>
            </p:cNvPr>
            <p:cNvSpPr txBox="1"/>
            <p:nvPr/>
          </p:nvSpPr>
          <p:spPr>
            <a:xfrm>
              <a:off x="829987" y="4704645"/>
              <a:ext cx="103919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Gateway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AA6EAB1-3D99-12DD-4CFF-2949EA9F194A}"/>
              </a:ext>
            </a:extLst>
          </p:cNvPr>
          <p:cNvGrpSpPr/>
          <p:nvPr/>
        </p:nvGrpSpPr>
        <p:grpSpPr>
          <a:xfrm>
            <a:off x="4553667" y="4367254"/>
            <a:ext cx="1828800" cy="640080"/>
            <a:chOff x="4553667" y="4367254"/>
            <a:chExt cx="1828800" cy="640080"/>
          </a:xfrm>
        </p:grpSpPr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5B56C126-86E4-7DA7-C784-8E6836884E00}"/>
                </a:ext>
              </a:extLst>
            </p:cNvPr>
            <p:cNvSpPr/>
            <p:nvPr/>
          </p:nvSpPr>
          <p:spPr>
            <a:xfrm>
              <a:off x="4553667" y="436725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23C4F91-27D7-1951-BE88-9DAAB6019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297" t="10808" r="3251" b="10932"/>
            <a:stretch>
              <a:fillRect/>
            </a:stretch>
          </p:blipFill>
          <p:spPr>
            <a:xfrm>
              <a:off x="4857751" y="4531157"/>
              <a:ext cx="414328" cy="346976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B7F6A01-B1E2-0803-EB4A-9ED876BC34A3}"/>
                </a:ext>
              </a:extLst>
            </p:cNvPr>
            <p:cNvSpPr txBox="1"/>
            <p:nvPr/>
          </p:nvSpPr>
          <p:spPr>
            <a:xfrm>
              <a:off x="5272079" y="4566145"/>
              <a:ext cx="103919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Web Chat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5AC6025-99C5-A8B2-CABE-2681049B7A88}"/>
              </a:ext>
            </a:extLst>
          </p:cNvPr>
          <p:cNvGrpSpPr/>
          <p:nvPr/>
        </p:nvGrpSpPr>
        <p:grpSpPr>
          <a:xfrm>
            <a:off x="6611067" y="4365211"/>
            <a:ext cx="1828800" cy="644166"/>
            <a:chOff x="6611067" y="4365211"/>
            <a:chExt cx="1828800" cy="644166"/>
          </a:xfrm>
        </p:grpSpPr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46769C74-CBAC-1C5B-24A6-B7D7D5E045C1}"/>
                </a:ext>
              </a:extLst>
            </p:cNvPr>
            <p:cNvSpPr/>
            <p:nvPr/>
          </p:nvSpPr>
          <p:spPr>
            <a:xfrm>
              <a:off x="6611067" y="436725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41F08E78-CD66-F48F-542D-22A6FB706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0000" b="90000" l="10000" r="90000">
                          <a14:foregroundMark x1="39138" y1="42746" x2="39138" y2="42746"/>
                          <a14:foregroundMark x1="45862" y1="43523" x2="45862" y2="43523"/>
                          <a14:foregroundMark x1="57241" y1="42487" x2="57241" y2="424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35835" y="4365211"/>
              <a:ext cx="967918" cy="644166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8BF83F-3D83-3C04-7B94-282091D32DD1}"/>
              </a:ext>
            </a:extLst>
          </p:cNvPr>
          <p:cNvGrpSpPr/>
          <p:nvPr/>
        </p:nvGrpSpPr>
        <p:grpSpPr>
          <a:xfrm>
            <a:off x="4553667" y="1761214"/>
            <a:ext cx="1828800" cy="640080"/>
            <a:chOff x="4553667" y="1761214"/>
            <a:chExt cx="1828800" cy="64008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529A148E-A0D4-EA4B-88D0-9AEC22A91876}"/>
                </a:ext>
              </a:extLst>
            </p:cNvPr>
            <p:cNvSpPr/>
            <p:nvPr/>
          </p:nvSpPr>
          <p:spPr>
            <a:xfrm>
              <a:off x="45536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78F6E4E4-B9C3-558F-FFEA-F39A33F74135}"/>
                </a:ext>
              </a:extLst>
            </p:cNvPr>
            <p:cNvSpPr/>
            <p:nvPr/>
          </p:nvSpPr>
          <p:spPr>
            <a:xfrm>
              <a:off x="45536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BB96416-5677-798F-1D5B-AFAD0F124F3A}"/>
                </a:ext>
              </a:extLst>
            </p:cNvPr>
            <p:cNvGrpSpPr/>
            <p:nvPr/>
          </p:nvGrpSpPr>
          <p:grpSpPr>
            <a:xfrm>
              <a:off x="4840133" y="1930103"/>
              <a:ext cx="1255868" cy="313560"/>
              <a:chOff x="3048434" y="5506447"/>
              <a:chExt cx="2149605" cy="536705"/>
            </a:xfrm>
          </p:grpSpPr>
          <p:pic>
            <p:nvPicPr>
              <p:cNvPr id="65" name="Graphic 64">
                <a:extLst>
                  <a:ext uri="{FF2B5EF4-FFF2-40B4-BE49-F238E27FC236}">
                    <a16:creationId xmlns:a16="http://schemas.microsoft.com/office/drawing/2014/main" id="{F22DB27F-BB2F-E79B-DC02-AD5AC30F7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585139" y="5539850"/>
                <a:ext cx="1612900" cy="469900"/>
              </a:xfrm>
              <a:prstGeom prst="rect">
                <a:avLst/>
              </a:prstGeom>
            </p:spPr>
          </p:pic>
          <p:pic>
            <p:nvPicPr>
              <p:cNvPr id="67" name="Graphic 66">
                <a:extLst>
                  <a:ext uri="{FF2B5EF4-FFF2-40B4-BE49-F238E27FC236}">
                    <a16:creationId xmlns:a16="http://schemas.microsoft.com/office/drawing/2014/main" id="{7F904B3B-4B16-E5FE-18CD-C6F73A45CE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3048434" y="5506447"/>
                <a:ext cx="536705" cy="536705"/>
              </a:xfrm>
              <a:prstGeom prst="rect">
                <a:avLst/>
              </a:prstGeom>
            </p:spPr>
          </p:pic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789AB9-EC08-D31B-1AC4-E35A2431EFD4}"/>
              </a:ext>
            </a:extLst>
          </p:cNvPr>
          <p:cNvGrpSpPr/>
          <p:nvPr/>
        </p:nvGrpSpPr>
        <p:grpSpPr>
          <a:xfrm>
            <a:off x="6611067" y="1761214"/>
            <a:ext cx="1828800" cy="640080"/>
            <a:chOff x="6611067" y="1761214"/>
            <a:chExt cx="1828800" cy="640080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3E89634C-E6F2-E32D-D656-6945CF7FF6CE}"/>
                </a:ext>
              </a:extLst>
            </p:cNvPr>
            <p:cNvSpPr/>
            <p:nvPr/>
          </p:nvSpPr>
          <p:spPr>
            <a:xfrm>
              <a:off x="66110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DC607F01-21E9-A476-8739-733009CD8188}"/>
                </a:ext>
              </a:extLst>
            </p:cNvPr>
            <p:cNvSpPr/>
            <p:nvPr/>
          </p:nvSpPr>
          <p:spPr>
            <a:xfrm>
              <a:off x="6611067" y="1761214"/>
              <a:ext cx="1828800" cy="640080"/>
            </a:xfrm>
            <a:prstGeom prst="rect">
              <a:avLst/>
            </a:prstGeom>
            <a:gradFill>
              <a:gsLst>
                <a:gs pos="14000">
                  <a:schemeClr val="accent1">
                    <a:alpha val="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3CC179B-A2C3-EC96-D783-78D34A3D835B}"/>
                </a:ext>
              </a:extLst>
            </p:cNvPr>
            <p:cNvGrpSpPr/>
            <p:nvPr/>
          </p:nvGrpSpPr>
          <p:grpSpPr>
            <a:xfrm>
              <a:off x="6887182" y="1829900"/>
              <a:ext cx="1116571" cy="425654"/>
              <a:chOff x="3175717" y="5209759"/>
              <a:chExt cx="2298700" cy="876300"/>
            </a:xfrm>
          </p:grpSpPr>
          <p:pic>
            <p:nvPicPr>
              <p:cNvPr id="70" name="Graphic 69">
                <a:extLst>
                  <a:ext uri="{FF2B5EF4-FFF2-40B4-BE49-F238E27FC236}">
                    <a16:creationId xmlns:a16="http://schemas.microsoft.com/office/drawing/2014/main" id="{85AD2446-4708-57A7-EA3F-F8C94AC15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 r="67458"/>
              <a:stretch>
                <a:fillRect/>
              </a:stretch>
            </p:blipFill>
            <p:spPr>
              <a:xfrm>
                <a:off x="3175717" y="5209759"/>
                <a:ext cx="748030" cy="876300"/>
              </a:xfrm>
              <a:prstGeom prst="rect">
                <a:avLst/>
              </a:prstGeom>
            </p:spPr>
          </p:pic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B856DF14-5EBD-E62A-B69D-37844A422F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32542"/>
              <a:stretch>
                <a:fillRect/>
              </a:stretch>
            </p:blipFill>
            <p:spPr>
              <a:xfrm>
                <a:off x="3923747" y="5209759"/>
                <a:ext cx="1550670" cy="876300"/>
              </a:xfrm>
              <a:prstGeom prst="rect">
                <a:avLst/>
              </a:prstGeom>
            </p:spPr>
          </p:pic>
        </p:grpSp>
      </p:grp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B42E3DD9-1D68-4924-867F-4EB162F9F84F}"/>
              </a:ext>
            </a:extLst>
          </p:cNvPr>
          <p:cNvSpPr txBox="1">
            <a:spLocks/>
          </p:cNvSpPr>
          <p:nvPr/>
        </p:nvSpPr>
        <p:spPr>
          <a:xfrm>
            <a:off x="438867" y="5440543"/>
            <a:ext cx="7208226" cy="2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200" dirty="0" err="1"/>
              <a:t>WebEx</a:t>
            </a:r>
            <a:r>
              <a:rPr lang="en-US" sz="1200" dirty="0"/>
              <a:t> integration custom-built for </a:t>
            </a:r>
            <a:r>
              <a:rPr lang="en-US" sz="1200" dirty="0" err="1"/>
              <a:t>NetClaw</a:t>
            </a:r>
            <a:r>
              <a:rPr lang="en-US" sz="1200" dirty="0"/>
              <a:t> - bidirectional real-time ops</a:t>
            </a:r>
          </a:p>
        </p:txBody>
      </p:sp>
    </p:spTree>
    <p:extLst>
      <p:ext uri="{BB962C8B-B14F-4D97-AF65-F5344CB8AC3E}">
        <p14:creationId xmlns:p14="http://schemas.microsoft.com/office/powerpoint/2010/main" val="938986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5683-9C96-2504-EFE4-84071BA0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 err="1"/>
              <a:t>NetClaw</a:t>
            </a:r>
            <a:r>
              <a:rPr lang="en-US" dirty="0"/>
              <a:t> 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FEEC4-AA04-D3B3-A24A-0B0FA4531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200" y="1159796"/>
            <a:ext cx="4571600" cy="1094800"/>
          </a:xfrm>
        </p:spPr>
        <p:txBody>
          <a:bodyPr/>
          <a:lstStyle/>
          <a:p>
            <a:pPr algn="ctr"/>
            <a:r>
              <a:rPr lang="en-US" dirty="0"/>
              <a:t>Device Automation &amp; Network Operations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D43ED5-7395-4932-B871-5EF28BBF7490}"/>
              </a:ext>
            </a:extLst>
          </p:cNvPr>
          <p:cNvGrpSpPr/>
          <p:nvPr/>
        </p:nvGrpSpPr>
        <p:grpSpPr>
          <a:xfrm>
            <a:off x="1542127" y="1589071"/>
            <a:ext cx="4367565" cy="4543281"/>
            <a:chOff x="1542127" y="1589071"/>
            <a:chExt cx="4367565" cy="454328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56DF076-76D3-1BB6-B9A2-4CDE5409BEF1}"/>
                </a:ext>
              </a:extLst>
            </p:cNvPr>
            <p:cNvSpPr/>
            <p:nvPr/>
          </p:nvSpPr>
          <p:spPr>
            <a:xfrm>
              <a:off x="1542127" y="1589071"/>
              <a:ext cx="4367565" cy="4543281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19969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972FDB11-29F2-B9F2-B59D-B13CAF17755E}"/>
                </a:ext>
              </a:extLst>
            </p:cNvPr>
            <p:cNvSpPr txBox="1">
              <a:spLocks/>
            </p:cNvSpPr>
            <p:nvPr/>
          </p:nvSpPr>
          <p:spPr>
            <a:xfrm>
              <a:off x="1894469" y="1848532"/>
              <a:ext cx="3753181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 err="1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pyATS</a:t>
              </a: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 Device Automation (18 Skills)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Network core automation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Health checks + </a:t>
              </a:r>
              <a:r>
                <a:rPr lang="en-US" sz="1200" dirty="0" err="1"/>
                <a:t>NetBox</a:t>
              </a:r>
              <a:r>
                <a:rPr lang="en-US" sz="1200" dirty="0"/>
                <a:t> cross-ref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Routing (OSPF, BGP, EIGRP, IS-IS)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Security audit + ISE + NVD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Topology discovery + reconciliation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Config management + ServiceNow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Troubleshooting with escalation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Fleet parallel operations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Dynamic test generation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ASA firewall automation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Juniper </a:t>
              </a:r>
              <a:r>
                <a:rPr lang="en-US" sz="1200" dirty="0" err="1"/>
                <a:t>JunOS</a:t>
              </a:r>
              <a:endParaRPr lang="en-US" sz="1200" dirty="0"/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Arista EOS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F5 BIG-IP iControl REST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Linux / VMware </a:t>
              </a:r>
              <a:r>
                <a:rPr lang="en-US" sz="1200" dirty="0" err="1"/>
                <a:t>ESXi</a:t>
              </a:r>
              <a:endParaRPr lang="en-US" sz="14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5A455E-615C-2442-3800-F2D65E7A4400}"/>
              </a:ext>
            </a:extLst>
          </p:cNvPr>
          <p:cNvGrpSpPr/>
          <p:nvPr/>
        </p:nvGrpSpPr>
        <p:grpSpPr>
          <a:xfrm>
            <a:off x="6198017" y="1589071"/>
            <a:ext cx="4367565" cy="4543281"/>
            <a:chOff x="6198017" y="1589071"/>
            <a:chExt cx="4367565" cy="454328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2A7D321-8E1A-D0E6-13E9-B717FBE06456}"/>
                </a:ext>
              </a:extLst>
            </p:cNvPr>
            <p:cNvSpPr/>
            <p:nvPr/>
          </p:nvSpPr>
          <p:spPr>
            <a:xfrm>
              <a:off x="6198017" y="1589071"/>
              <a:ext cx="4367565" cy="4543281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19969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F706280A-6666-2B9C-5C0F-B405C9F319EB}"/>
                </a:ext>
              </a:extLst>
            </p:cNvPr>
            <p:cNvSpPr txBox="1">
              <a:spLocks/>
            </p:cNvSpPr>
            <p:nvPr/>
          </p:nvSpPr>
          <p:spPr>
            <a:xfrm>
              <a:off x="6550359" y="1848532"/>
              <a:ext cx="3753181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Network Domain Skills (14 Skills)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NetBox</a:t>
              </a:r>
              <a:r>
                <a:rPr lang="en-US" sz="1200" dirty="0"/>
                <a:t> DCIM/IPAM reconciliation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ACI fabric audit &amp; change deploy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ISE posture &amp; incident response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ServiceNow change workflow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GAIT session audit tracking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NSO orchestration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EVPN/VXLAN fabric workflows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Live BGP/OSPF participation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Subnet calculator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gNMI</a:t>
              </a:r>
              <a:r>
                <a:rPr lang="en-US" sz="1200" dirty="0"/>
                <a:t> streaming telemetry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SD-WAN </a:t>
              </a:r>
              <a:r>
                <a:rPr lang="en-US" sz="1200" dirty="0" err="1"/>
                <a:t>vManage</a:t>
              </a:r>
              <a:r>
                <a:rPr lang="en-US" sz="1200" dirty="0"/>
                <a:t> monitoring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CML lab simulation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ContainerLab</a:t>
              </a:r>
              <a:r>
                <a:rPr lang="en-US" sz="1200" dirty="0"/>
                <a:t> networks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Batfish offline config analysis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09606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5683-9C96-2504-EFE4-84071BA0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 err="1"/>
              <a:t>NetClaw</a:t>
            </a:r>
            <a:r>
              <a:rPr lang="en-US" dirty="0"/>
              <a:t> 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FEEC4-AA04-D3B3-A24A-0B0FA4531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200" y="1159796"/>
            <a:ext cx="4571600" cy="308277"/>
          </a:xfrm>
        </p:spPr>
        <p:txBody>
          <a:bodyPr/>
          <a:lstStyle/>
          <a:p>
            <a:pPr algn="ctr"/>
            <a:r>
              <a:rPr lang="en-US" dirty="0"/>
              <a:t>Platform Integrations &amp; Security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7BCA70-8B9E-83B8-7803-697B6EE2F017}"/>
              </a:ext>
            </a:extLst>
          </p:cNvPr>
          <p:cNvGrpSpPr/>
          <p:nvPr/>
        </p:nvGrpSpPr>
        <p:grpSpPr>
          <a:xfrm>
            <a:off x="1542127" y="1589072"/>
            <a:ext cx="4367565" cy="4811728"/>
            <a:chOff x="1542127" y="1589072"/>
            <a:chExt cx="4367565" cy="481172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56DF076-76D3-1BB6-B9A2-4CDE5409BEF1}"/>
                </a:ext>
              </a:extLst>
            </p:cNvPr>
            <p:cNvSpPr/>
            <p:nvPr/>
          </p:nvSpPr>
          <p:spPr>
            <a:xfrm>
              <a:off x="1542127" y="1589072"/>
              <a:ext cx="4367565" cy="4811728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972FDB11-29F2-B9F2-B59D-B13CAF17755E}"/>
                </a:ext>
              </a:extLst>
            </p:cNvPr>
            <p:cNvSpPr txBox="1">
              <a:spLocks/>
            </p:cNvSpPr>
            <p:nvPr/>
          </p:nvSpPr>
          <p:spPr>
            <a:xfrm>
              <a:off x="1894469" y="1848532"/>
              <a:ext cx="3753181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Platform Skills (18 Skills)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F5 BIG-IP health/config/troubleshoot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Catalyst Center inventory &amp; ops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Cisco Meraki Dashboard </a:t>
              </a:r>
              <a:r>
                <a:rPr lang="en-US" sz="1100" dirty="0" err="1"/>
                <a:t>mgmt</a:t>
              </a:r>
              <a:endParaRPr lang="en-US" sz="1100" dirty="0"/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Cisco </a:t>
              </a:r>
              <a:r>
                <a:rPr lang="en-US" sz="1100" dirty="0" err="1"/>
                <a:t>ThousandEyes</a:t>
              </a:r>
              <a:r>
                <a:rPr lang="en-US" sz="1100" dirty="0"/>
                <a:t> intelligence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Cisco Secure Firewall audit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Palo Alto Panorama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FortiManager</a:t>
              </a:r>
              <a:r>
                <a:rPr lang="en-US" sz="1100" dirty="0"/>
                <a:t> integration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Infoblox DDI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AWS cloud networking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GCP cloud networking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Itential</a:t>
              </a:r>
              <a:r>
                <a:rPr lang="en-US" sz="1100" dirty="0"/>
                <a:t> orchestration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Arista </a:t>
              </a:r>
              <a:r>
                <a:rPr lang="en-US" sz="1100" dirty="0" err="1"/>
                <a:t>CloudVision</a:t>
              </a:r>
              <a:r>
                <a:rPr lang="en-US" sz="1100" dirty="0"/>
                <a:t> Portal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Jenkins CI/CD operations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GitLab DevOps integration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GitHub config-as-code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Grafana observability</a:t>
              </a:r>
              <a:endParaRPr lang="en-US" sz="14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09C44AB-9FFC-487B-3659-913CA265B711}"/>
              </a:ext>
            </a:extLst>
          </p:cNvPr>
          <p:cNvGrpSpPr/>
          <p:nvPr/>
        </p:nvGrpSpPr>
        <p:grpSpPr>
          <a:xfrm>
            <a:off x="6198017" y="1589072"/>
            <a:ext cx="4367565" cy="4811728"/>
            <a:chOff x="6198017" y="1589072"/>
            <a:chExt cx="4367565" cy="481172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2A7D321-8E1A-D0E6-13E9-B717FBE06456}"/>
                </a:ext>
              </a:extLst>
            </p:cNvPr>
            <p:cNvSpPr/>
            <p:nvPr/>
          </p:nvSpPr>
          <p:spPr>
            <a:xfrm>
              <a:off x="6198017" y="1589072"/>
              <a:ext cx="4367565" cy="4811728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F706280A-6666-2B9C-5C0F-B405C9F319EB}"/>
                </a:ext>
              </a:extLst>
            </p:cNvPr>
            <p:cNvSpPr txBox="1">
              <a:spLocks/>
            </p:cNvSpPr>
            <p:nvPr/>
          </p:nvSpPr>
          <p:spPr>
            <a:xfrm>
              <a:off x="6550359" y="1848532"/>
              <a:ext cx="3753181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Security &amp; Utility Skills (16 Skills)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NVD CVE vulnerability scanning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Nmap network scanning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Gtrace</a:t>
              </a:r>
              <a:r>
                <a:rPr lang="en-US" sz="1100" dirty="0"/>
                <a:t> path analysis + IP enrichment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Packet capture analysis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Prometheus </a:t>
              </a:r>
              <a:r>
                <a:rPr lang="en-US" sz="1100" dirty="0" err="1"/>
                <a:t>PromQL</a:t>
              </a:r>
              <a:r>
                <a:rPr lang="en-US" sz="1100" dirty="0"/>
                <a:t> monitoring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Kubeshark</a:t>
              </a:r>
              <a:r>
                <a:rPr lang="en-US" sz="1100" dirty="0"/>
                <a:t> K8s traffic analysis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Wikipedia research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RFC lookup &amp; standards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Markmap</a:t>
              </a:r>
              <a:r>
                <a:rPr lang="en-US" sz="1100" dirty="0"/>
                <a:t> visualization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Draw.io</a:t>
              </a:r>
              <a:r>
                <a:rPr lang="en-US" sz="1100" dirty="0"/>
                <a:t> diagram generation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UML diagram generation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Canvas/A2UI network viz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MemPalace</a:t>
              </a:r>
              <a:r>
                <a:rPr lang="en-US" sz="1100" dirty="0"/>
                <a:t> persistent memory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Microsoft 365 integration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/>
                <a:t>Slack-native operations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100" dirty="0" err="1"/>
                <a:t>WebEx</a:t>
              </a:r>
              <a:r>
                <a:rPr lang="en-US" sz="1100" dirty="0"/>
                <a:t>-native operations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4364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5683-9C96-2504-EFE4-84071BA0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MCP Integrations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FEEC4-AA04-D3B3-A24A-0B0FA4531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9218" y="1159796"/>
            <a:ext cx="6733564" cy="325055"/>
          </a:xfrm>
        </p:spPr>
        <p:txBody>
          <a:bodyPr/>
          <a:lstStyle/>
          <a:p>
            <a:pPr algn="ctr"/>
            <a:r>
              <a:rPr lang="en-US" dirty="0"/>
              <a:t>51 MCP Servers - Model Context Protocol Tool Backends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3C9BBC-3486-470A-12EF-ECED6106A13B}"/>
              </a:ext>
            </a:extLst>
          </p:cNvPr>
          <p:cNvGrpSpPr/>
          <p:nvPr/>
        </p:nvGrpSpPr>
        <p:grpSpPr>
          <a:xfrm>
            <a:off x="678061" y="2016910"/>
            <a:ext cx="2520610" cy="3033263"/>
            <a:chOff x="678061" y="2016910"/>
            <a:chExt cx="2520610" cy="303326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56DF076-76D3-1BB6-B9A2-4CDE5409BEF1}"/>
                </a:ext>
              </a:extLst>
            </p:cNvPr>
            <p:cNvSpPr/>
            <p:nvPr/>
          </p:nvSpPr>
          <p:spPr>
            <a:xfrm>
              <a:off x="678061" y="2016910"/>
              <a:ext cx="2520610" cy="3033263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972FDB11-29F2-B9F2-B59D-B13CAF17755E}"/>
                </a:ext>
              </a:extLst>
            </p:cNvPr>
            <p:cNvSpPr txBox="1">
              <a:spLocks/>
            </p:cNvSpPr>
            <p:nvPr/>
          </p:nvSpPr>
          <p:spPr>
            <a:xfrm>
              <a:off x="987457" y="2276371"/>
              <a:ext cx="1960753" cy="2421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Network Device MCPs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pyATS</a:t>
              </a:r>
              <a:r>
                <a:rPr lang="en-US" sz="1200" dirty="0"/>
                <a:t> (8 tools)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ACI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ISE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NSO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Juniper </a:t>
              </a:r>
              <a:r>
                <a:rPr lang="en-US" sz="1200" dirty="0" err="1"/>
                <a:t>JunOS</a:t>
              </a:r>
              <a:endParaRPr lang="en-US" sz="1200" dirty="0"/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Arista CVP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F5 BIG-IP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D368B9F-5270-9D6A-B740-D0AF4FE97087}"/>
              </a:ext>
            </a:extLst>
          </p:cNvPr>
          <p:cNvGrpSpPr/>
          <p:nvPr/>
        </p:nvGrpSpPr>
        <p:grpSpPr>
          <a:xfrm>
            <a:off x="3403661" y="2016910"/>
            <a:ext cx="2520610" cy="3033263"/>
            <a:chOff x="3403661" y="2016910"/>
            <a:chExt cx="2520610" cy="3033263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970A5B1-EF91-0B2A-6B6A-08745BD1AAEC}"/>
                </a:ext>
              </a:extLst>
            </p:cNvPr>
            <p:cNvSpPr/>
            <p:nvPr/>
          </p:nvSpPr>
          <p:spPr>
            <a:xfrm>
              <a:off x="3403661" y="2016910"/>
              <a:ext cx="2520610" cy="3033263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5F4DE69D-249D-0DF7-9E9F-2C18DA9378A4}"/>
                </a:ext>
              </a:extLst>
            </p:cNvPr>
            <p:cNvSpPr txBox="1">
              <a:spLocks/>
            </p:cNvSpPr>
            <p:nvPr/>
          </p:nvSpPr>
          <p:spPr>
            <a:xfrm>
              <a:off x="3713057" y="2276371"/>
              <a:ext cx="1960753" cy="2421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Platform</a:t>
              </a:r>
              <a:b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</a:b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MCPs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NetBox</a:t>
              </a:r>
              <a:r>
                <a:rPr lang="en-US" sz="1200" dirty="0"/>
                <a:t> DCIM/IPAM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ServiceNow ITSM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Meraki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SD-WAN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ThousandEyes</a:t>
              </a:r>
              <a:endParaRPr lang="en-US" sz="1200" dirty="0"/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Catalyst Center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Infoblox DDI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6D22D1-6BC6-790D-FF74-9F0C7128A9B8}"/>
              </a:ext>
            </a:extLst>
          </p:cNvPr>
          <p:cNvGrpSpPr/>
          <p:nvPr/>
        </p:nvGrpSpPr>
        <p:grpSpPr>
          <a:xfrm>
            <a:off x="6129261" y="2016910"/>
            <a:ext cx="2520610" cy="3033263"/>
            <a:chOff x="6129261" y="2016910"/>
            <a:chExt cx="2520610" cy="3033263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8D876EC-B54C-94DE-4CA8-FDAE6DF16066}"/>
                </a:ext>
              </a:extLst>
            </p:cNvPr>
            <p:cNvSpPr/>
            <p:nvPr/>
          </p:nvSpPr>
          <p:spPr>
            <a:xfrm>
              <a:off x="6129261" y="2016910"/>
              <a:ext cx="2520610" cy="3033263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 Placeholder 3">
              <a:extLst>
                <a:ext uri="{FF2B5EF4-FFF2-40B4-BE49-F238E27FC236}">
                  <a16:creationId xmlns:a16="http://schemas.microsoft.com/office/drawing/2014/main" id="{D063F763-A1D8-6123-DEC9-5402CC5ABA5C}"/>
                </a:ext>
              </a:extLst>
            </p:cNvPr>
            <p:cNvSpPr txBox="1">
              <a:spLocks/>
            </p:cNvSpPr>
            <p:nvPr/>
          </p:nvSpPr>
          <p:spPr>
            <a:xfrm>
              <a:off x="6438658" y="2276371"/>
              <a:ext cx="1960753" cy="2421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Observability</a:t>
              </a:r>
              <a:b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</a:b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MCPs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Grafana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Prometheus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Loki Logging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Kubeshark</a:t>
              </a:r>
              <a:endParaRPr lang="en-US" sz="1200" dirty="0"/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Splunk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Datadog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GAIT Audit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E1A181-BDDB-D397-C1FA-2A068DB838B4}"/>
              </a:ext>
            </a:extLst>
          </p:cNvPr>
          <p:cNvGrpSpPr/>
          <p:nvPr/>
        </p:nvGrpSpPr>
        <p:grpSpPr>
          <a:xfrm>
            <a:off x="8854862" y="2016910"/>
            <a:ext cx="2520610" cy="3033263"/>
            <a:chOff x="8854862" y="2016910"/>
            <a:chExt cx="2520610" cy="303326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E78467B-E380-6ECF-FF3C-8E8990F8916F}"/>
                </a:ext>
              </a:extLst>
            </p:cNvPr>
            <p:cNvSpPr/>
            <p:nvPr/>
          </p:nvSpPr>
          <p:spPr>
            <a:xfrm>
              <a:off x="8854862" y="2016910"/>
              <a:ext cx="2520610" cy="3033263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ext Placeholder 3">
              <a:extLst>
                <a:ext uri="{FF2B5EF4-FFF2-40B4-BE49-F238E27FC236}">
                  <a16:creationId xmlns:a16="http://schemas.microsoft.com/office/drawing/2014/main" id="{BCDB40A3-F5DB-2D1E-0CE1-25D88B0398B3}"/>
                </a:ext>
              </a:extLst>
            </p:cNvPr>
            <p:cNvSpPr txBox="1">
              <a:spLocks/>
            </p:cNvSpPr>
            <p:nvPr/>
          </p:nvSpPr>
          <p:spPr>
            <a:xfrm>
              <a:off x="9164259" y="2276371"/>
              <a:ext cx="1960753" cy="2421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DevOps &amp; Cloud MCPs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GitHub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GitLab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Jenkins CI/CD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AWS Cloud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GCP Cloud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 err="1"/>
                <a:t>ContainerLab</a:t>
              </a:r>
              <a:endParaRPr lang="en-US" sz="1200" dirty="0"/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Cisco CML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1004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1161-CD47-A1B2-698E-BBCFA812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7A362-DA82-C805-5CD7-59D7ED884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350222"/>
          </a:xfrm>
        </p:spPr>
        <p:txBody>
          <a:bodyPr/>
          <a:lstStyle/>
          <a:p>
            <a:r>
              <a:rPr lang="en-US" dirty="0"/>
              <a:t>Follow the Wizard. Answer the Prompts.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8E6FED1-D2DD-ED81-77EF-A61649AB3AF1}"/>
              </a:ext>
            </a:extLst>
          </p:cNvPr>
          <p:cNvGrpSpPr/>
          <p:nvPr/>
        </p:nvGrpSpPr>
        <p:grpSpPr>
          <a:xfrm>
            <a:off x="438867" y="1874268"/>
            <a:ext cx="6045823" cy="1472939"/>
            <a:chOff x="438867" y="1874268"/>
            <a:chExt cx="6045823" cy="147293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AA7C1EE-2096-F23F-DB66-DE10F210D29D}"/>
                </a:ext>
              </a:extLst>
            </p:cNvPr>
            <p:cNvSpPr/>
            <p:nvPr/>
          </p:nvSpPr>
          <p:spPr>
            <a:xfrm>
              <a:off x="438867" y="1874268"/>
              <a:ext cx="6045823" cy="1472939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2FC83F-A936-84F8-2DE3-A69661DAF784}"/>
                </a:ext>
              </a:extLst>
            </p:cNvPr>
            <p:cNvSpPr txBox="1"/>
            <p:nvPr/>
          </p:nvSpPr>
          <p:spPr>
            <a:xfrm>
              <a:off x="672304" y="2074554"/>
              <a:ext cx="571171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git clone https://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github.com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automateyournetwork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netclaw.git</a:t>
              </a: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cd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netclaw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&amp;&amp; ./scripts/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install.sh</a:t>
              </a: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That's it. The wizard handles the rest.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6A43BB8-EC69-2311-A3FF-0B32CEC3C6A0}"/>
              </a:ext>
            </a:extLst>
          </p:cNvPr>
          <p:cNvGrpSpPr/>
          <p:nvPr/>
        </p:nvGrpSpPr>
        <p:grpSpPr>
          <a:xfrm>
            <a:off x="438867" y="3610818"/>
            <a:ext cx="4367565" cy="2177585"/>
            <a:chOff x="438867" y="3610818"/>
            <a:chExt cx="4367565" cy="217758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9401747-B7FF-E22E-AAC1-30C8065E3587}"/>
                </a:ext>
              </a:extLst>
            </p:cNvPr>
            <p:cNvSpPr/>
            <p:nvPr/>
          </p:nvSpPr>
          <p:spPr>
            <a:xfrm>
              <a:off x="438867" y="3610818"/>
              <a:ext cx="4367565" cy="217758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19969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3B5FD244-F880-01FD-0573-1BCA7602EE9B}"/>
                </a:ext>
              </a:extLst>
            </p:cNvPr>
            <p:cNvSpPr txBox="1">
              <a:spLocks/>
            </p:cNvSpPr>
            <p:nvPr/>
          </p:nvSpPr>
          <p:spPr>
            <a:xfrm>
              <a:off x="791209" y="3870279"/>
              <a:ext cx="3753181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sz="1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Phase 1</a:t>
              </a:r>
              <a:b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</a:br>
              <a:r>
                <a:rPr lang="en-US" b="1" dirty="0" err="1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openclaw</a:t>
              </a: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 onboard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Pick AI provider (30+ options)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Set up gateway (local/cloud mode)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Connect channels (Slack, Discord...)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Install daemon service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17F5C7-7031-1685-D31F-92EDC5D0D841}"/>
              </a:ext>
            </a:extLst>
          </p:cNvPr>
          <p:cNvGrpSpPr/>
          <p:nvPr/>
        </p:nvGrpSpPr>
        <p:grpSpPr>
          <a:xfrm>
            <a:off x="5086368" y="3610818"/>
            <a:ext cx="4367565" cy="2177585"/>
            <a:chOff x="5086368" y="3610818"/>
            <a:chExt cx="4367565" cy="217758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F979A06-0027-ADB0-61D7-463B408EFB4E}"/>
                </a:ext>
              </a:extLst>
            </p:cNvPr>
            <p:cNvSpPr/>
            <p:nvPr/>
          </p:nvSpPr>
          <p:spPr>
            <a:xfrm>
              <a:off x="5086368" y="3610818"/>
              <a:ext cx="4367565" cy="217758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3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 Placeholder 3">
              <a:extLst>
                <a:ext uri="{FF2B5EF4-FFF2-40B4-BE49-F238E27FC236}">
                  <a16:creationId xmlns:a16="http://schemas.microsoft.com/office/drawing/2014/main" id="{F971E87D-0532-BF11-8199-E6D2E6993CD6}"/>
                </a:ext>
              </a:extLst>
            </p:cNvPr>
            <p:cNvSpPr txBox="1">
              <a:spLocks/>
            </p:cNvSpPr>
            <p:nvPr/>
          </p:nvSpPr>
          <p:spPr>
            <a:xfrm>
              <a:off x="5438710" y="3870279"/>
              <a:ext cx="3753181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sz="12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Phase 2</a:t>
              </a:r>
              <a:b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</a:br>
              <a:r>
                <a:rPr lang="en-US" b="1" dirty="0" err="1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openclaw</a:t>
              </a: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 onboard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Device testbed (</a:t>
              </a:r>
              <a:r>
                <a:rPr lang="en-US" sz="1200" dirty="0" err="1"/>
                <a:t>testbed.yaml</a:t>
              </a:r>
              <a:r>
                <a:rPr lang="en-US" sz="1200" dirty="0"/>
                <a:t>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Platform credentials &amp; API keys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Your identity (name, role, </a:t>
              </a:r>
              <a:r>
                <a:rPr lang="en-US" sz="1200" dirty="0" err="1"/>
                <a:t>timezone</a:t>
              </a:r>
              <a:r>
                <a:rPr lang="en-US" sz="1200" dirty="0"/>
                <a:t>)</a:t>
              </a:r>
            </a:p>
            <a:p>
              <a:pPr marL="285750">
                <a:spcBef>
                  <a:spcPts val="600"/>
                </a:spcBef>
              </a:pPr>
              <a:r>
                <a:rPr lang="en-US" sz="1200" dirty="0"/>
                <a:t>Enable </a:t>
              </a:r>
              <a:r>
                <a:rPr lang="en-US" sz="1200" dirty="0" err="1"/>
                <a:t>DefenseClaw</a:t>
              </a:r>
              <a:r>
                <a:rPr lang="en-US" sz="1200" dirty="0"/>
                <a:t> (recommended)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2922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9AE6-5C36-1331-5FCA-5CE6CF62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pyATS</a:t>
            </a:r>
            <a:r>
              <a:rPr lang="en-US" dirty="0"/>
              <a:t> Testbed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62212-0052-3B41-78C3-9C6B88942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Your Network Inventory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34F9DD-FC0C-3490-AE28-A471CF8CCA18}"/>
              </a:ext>
            </a:extLst>
          </p:cNvPr>
          <p:cNvSpPr/>
          <p:nvPr/>
        </p:nvSpPr>
        <p:spPr>
          <a:xfrm>
            <a:off x="438868" y="1874268"/>
            <a:ext cx="3243900" cy="320946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EC4BD-710D-583C-FB46-B3D3B629F6F5}"/>
              </a:ext>
            </a:extLst>
          </p:cNvPr>
          <p:cNvSpPr txBox="1"/>
          <p:nvPr/>
        </p:nvSpPr>
        <p:spPr>
          <a:xfrm>
            <a:off x="672304" y="2074554"/>
            <a:ext cx="571171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testbed/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testbed.yaml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csr1000v-1: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alias: 'Sandbox Router'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iosxe</a:t>
            </a:r>
            <a:endParaRPr lang="en-US" sz="12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platform: CSR1kv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router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username: admin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connections: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10.10.20.48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A4ACE2-D484-8133-15C4-E8BC553EF0B1}"/>
              </a:ext>
            </a:extLst>
          </p:cNvPr>
          <p:cNvSpPr/>
          <p:nvPr/>
        </p:nvSpPr>
        <p:spPr>
          <a:xfrm>
            <a:off x="4141669" y="1874268"/>
            <a:ext cx="3936929" cy="3209460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2">
                  <a:alpha val="19969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1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EAC297F-8CC5-3D49-F648-BB0547E36BDD}"/>
              </a:ext>
            </a:extLst>
          </p:cNvPr>
          <p:cNvSpPr txBox="1">
            <a:spLocks/>
          </p:cNvSpPr>
          <p:nvPr/>
        </p:nvSpPr>
        <p:spPr>
          <a:xfrm>
            <a:off x="4494012" y="2133729"/>
            <a:ext cx="3341306" cy="254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Getting Started</a:t>
            </a:r>
          </a:p>
          <a:p>
            <a:pPr marL="285750">
              <a:spcBef>
                <a:spcPts val="600"/>
              </a:spcBef>
            </a:pPr>
            <a:r>
              <a:rPr lang="en-US" sz="1200" dirty="0"/>
              <a:t>Works with DevNet CML Sandbox out of the box</a:t>
            </a:r>
          </a:p>
          <a:p>
            <a:pPr marL="285750">
              <a:spcBef>
                <a:spcPts val="600"/>
              </a:spcBef>
            </a:pPr>
            <a:r>
              <a:rPr lang="en-US" sz="1200" dirty="0"/>
              <a:t>Edit for your lab or production network</a:t>
            </a:r>
          </a:p>
          <a:p>
            <a:pPr marL="285750">
              <a:spcBef>
                <a:spcPts val="600"/>
              </a:spcBef>
            </a:pPr>
            <a:r>
              <a:rPr lang="en-US" sz="1200" dirty="0"/>
              <a:t>Supports IOS-XE, NX-OS, IOS-XR, ASA</a:t>
            </a:r>
          </a:p>
          <a:p>
            <a:pPr marL="285750">
              <a:spcBef>
                <a:spcPts val="600"/>
              </a:spcBef>
            </a:pPr>
            <a:r>
              <a:rPr lang="en-US" sz="1200" dirty="0"/>
              <a:t>Juniper </a:t>
            </a:r>
            <a:r>
              <a:rPr lang="en-US" sz="1200" dirty="0" err="1"/>
              <a:t>JunOS</a:t>
            </a:r>
            <a:r>
              <a:rPr lang="en-US" sz="1200" dirty="0"/>
              <a:t>, Arista EOS</a:t>
            </a:r>
          </a:p>
          <a:p>
            <a:pPr marL="285750">
              <a:spcBef>
                <a:spcPts val="600"/>
              </a:spcBef>
            </a:pPr>
            <a:r>
              <a:rPr lang="en-US" sz="1200" dirty="0"/>
              <a:t>F5 BIG-IP, Linux, VMware</a:t>
            </a:r>
          </a:p>
          <a:p>
            <a:pPr marL="285750">
              <a:spcBef>
                <a:spcPts val="600"/>
              </a:spcBef>
            </a:pPr>
            <a:r>
              <a:rPr lang="en-US" sz="1200" dirty="0"/>
              <a:t>Multi-vendor fleet support</a:t>
            </a:r>
          </a:p>
        </p:txBody>
      </p:sp>
    </p:spTree>
    <p:extLst>
      <p:ext uri="{BB962C8B-B14F-4D97-AF65-F5344CB8AC3E}">
        <p14:creationId xmlns:p14="http://schemas.microsoft.com/office/powerpoint/2010/main" val="391068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C2375-8852-A835-AB80-589946AB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OpenShell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68DEA-86DC-AECD-3CB0-395DBCB05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299888"/>
          </a:xfrm>
        </p:spPr>
        <p:txBody>
          <a:bodyPr/>
          <a:lstStyle/>
          <a:p>
            <a:r>
              <a:rPr lang="en-US" dirty="0"/>
              <a:t>NVIDIA's Sandboxing Security Layer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B98BEE-311A-28ED-9730-FE018D655C29}"/>
              </a:ext>
            </a:extLst>
          </p:cNvPr>
          <p:cNvSpPr txBox="1">
            <a:spLocks/>
          </p:cNvSpPr>
          <p:nvPr/>
        </p:nvSpPr>
        <p:spPr>
          <a:xfrm>
            <a:off x="1054014" y="1922946"/>
            <a:ext cx="3341306" cy="2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Kernel-Level Agent Isolation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A84A79-18FD-3406-F0AE-43013A842398}"/>
              </a:ext>
            </a:extLst>
          </p:cNvPr>
          <p:cNvSpPr txBox="1">
            <a:spLocks/>
          </p:cNvSpPr>
          <p:nvPr/>
        </p:nvSpPr>
        <p:spPr>
          <a:xfrm>
            <a:off x="538785" y="2396394"/>
            <a:ext cx="6289104" cy="2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>
              <a:spcBef>
                <a:spcPts val="1200"/>
              </a:spcBef>
            </a:pPr>
            <a:r>
              <a:rPr lang="en-US" sz="1200" dirty="0"/>
              <a:t>Kernel-level isolation using Landlock, seccomp, and network namespaces</a:t>
            </a:r>
          </a:p>
          <a:p>
            <a:pPr marL="285750">
              <a:spcBef>
                <a:spcPts val="1200"/>
              </a:spcBef>
            </a:pPr>
            <a:r>
              <a:rPr lang="en-US" sz="1200" dirty="0"/>
              <a:t>Deny-by-default network access - only explicitly allowed endpoints</a:t>
            </a:r>
          </a:p>
          <a:p>
            <a:pPr marL="285750">
              <a:spcBef>
                <a:spcPts val="1200"/>
              </a:spcBef>
            </a:pPr>
            <a:r>
              <a:rPr lang="en-US" sz="1200" dirty="0"/>
              <a:t>YAML-based policy enforcement (permit/deny blacklist)</a:t>
            </a:r>
          </a:p>
          <a:p>
            <a:pPr marL="285750">
              <a:spcBef>
                <a:spcPts val="1200"/>
              </a:spcBef>
            </a:pPr>
            <a:r>
              <a:rPr lang="en-US" sz="1200" dirty="0"/>
              <a:t>Privacy router keeps sensitive data local</a:t>
            </a:r>
          </a:p>
          <a:p>
            <a:pPr marL="285750">
              <a:spcBef>
                <a:spcPts val="1200"/>
              </a:spcBef>
            </a:pPr>
            <a:r>
              <a:rPr lang="en-US" sz="1200" dirty="0"/>
              <a:t>Fine-grained control over LLM and MCP access</a:t>
            </a:r>
          </a:p>
          <a:p>
            <a:pPr marL="285750">
              <a:spcBef>
                <a:spcPts val="1200"/>
              </a:spcBef>
            </a:pPr>
            <a:r>
              <a:rPr lang="en-US" sz="1200" dirty="0"/>
              <a:t>Part of NVIDIA Agent Toolkit - Apache 2.0 open source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6F8E22-19A8-2F3E-60FE-7455D6663358}"/>
              </a:ext>
            </a:extLst>
          </p:cNvPr>
          <p:cNvSpPr/>
          <p:nvPr/>
        </p:nvSpPr>
        <p:spPr>
          <a:xfrm>
            <a:off x="438867" y="1841894"/>
            <a:ext cx="428436" cy="428436"/>
          </a:xfrm>
          <a:prstGeom prst="round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  <a:gs pos="50000">
                <a:schemeClr val="tx1"/>
              </a:gs>
            </a:gsLst>
            <a:lin ang="13500000" scaled="1"/>
            <a:tileRect/>
          </a:gra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A36E1A7-301E-D762-0450-96B5E76AD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785" y="1958590"/>
            <a:ext cx="228600" cy="2286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3D71185-5C50-1882-80C7-11D36A25BB60}"/>
              </a:ext>
            </a:extLst>
          </p:cNvPr>
          <p:cNvSpPr txBox="1">
            <a:spLocks/>
          </p:cNvSpPr>
          <p:nvPr/>
        </p:nvSpPr>
        <p:spPr>
          <a:xfrm>
            <a:off x="438866" y="5035510"/>
            <a:ext cx="9074249" cy="2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</a:rPr>
              <a:t>Allowed Endpoints</a:t>
            </a:r>
          </a:p>
          <a:p>
            <a:pPr>
              <a:spcAft>
                <a:spcPts val="1200"/>
              </a:spcAft>
            </a:pPr>
            <a:r>
              <a:rPr lang="en-US" sz="1200" dirty="0"/>
              <a:t>Slack APIs  |  LLM APIs  |  MCPs (DevNet, Meraki, Splunk...)  |  Cloud </a:t>
            </a:r>
            <a:r>
              <a:rPr lang="en-US" sz="1200" dirty="0" err="1"/>
              <a:t>Mgmt</a:t>
            </a:r>
            <a:r>
              <a:rPr lang="en-US" sz="1200" dirty="0"/>
              <a:t> APIs</a:t>
            </a:r>
          </a:p>
          <a:p>
            <a:pPr>
              <a:spcAft>
                <a:spcPts val="1200"/>
              </a:spcAft>
            </a:pPr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0950CA6-B5E2-6FA6-1FB9-1EABB1963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3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19DB-FDDC-CF23-E5E9-B77B93D7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DefenseClaw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6E6FE-4A30-8337-E0D0-C735B8FC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232776"/>
          </a:xfrm>
        </p:spPr>
        <p:txBody>
          <a:bodyPr/>
          <a:lstStyle/>
          <a:p>
            <a:r>
              <a:rPr lang="en-US" dirty="0"/>
              <a:t>Enterprise Security from Cisco AI Defense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9C0222-EAF4-E7B7-6053-6EDE8E1A28A8}"/>
              </a:ext>
            </a:extLst>
          </p:cNvPr>
          <p:cNvGrpSpPr/>
          <p:nvPr/>
        </p:nvGrpSpPr>
        <p:grpSpPr>
          <a:xfrm>
            <a:off x="438866" y="1727102"/>
            <a:ext cx="7581009" cy="1183322"/>
            <a:chOff x="438866" y="1727102"/>
            <a:chExt cx="7581009" cy="1183322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E4202F57-6526-C8A1-9E47-F108BB7CA3EB}"/>
                </a:ext>
              </a:extLst>
            </p:cNvPr>
            <p:cNvSpPr/>
            <p:nvPr/>
          </p:nvSpPr>
          <p:spPr>
            <a:xfrm>
              <a:off x="438866" y="1727102"/>
              <a:ext cx="7581009" cy="1183322"/>
            </a:xfrm>
            <a:prstGeom prst="rect">
              <a:avLst/>
            </a:prstGeom>
            <a:gradFill>
              <a:gsLst>
                <a:gs pos="14000">
                  <a:schemeClr val="accent1">
                    <a:alpha val="9807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>
              <a:solidFill>
                <a:schemeClr val="bg2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40B10C-EB11-0BA8-136D-901F98E7506A}"/>
                </a:ext>
              </a:extLst>
            </p:cNvPr>
            <p:cNvSpPr txBox="1"/>
            <p:nvPr/>
          </p:nvSpPr>
          <p:spPr>
            <a:xfrm>
              <a:off x="637564" y="1857186"/>
              <a:ext cx="4395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3FD841-A9CF-EB54-59C7-DA7F5A6305C8}"/>
                </a:ext>
              </a:extLst>
            </p:cNvPr>
            <p:cNvSpPr txBox="1"/>
            <p:nvPr/>
          </p:nvSpPr>
          <p:spPr>
            <a:xfrm>
              <a:off x="1140903" y="1903352"/>
              <a:ext cx="25571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</a:rPr>
                <a:t>Pre-Installation Scanning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2E40A4-2812-96B8-2878-B0D613269F16}"/>
                </a:ext>
              </a:extLst>
            </p:cNvPr>
            <p:cNvSpPr txBox="1"/>
            <p:nvPr/>
          </p:nvSpPr>
          <p:spPr>
            <a:xfrm>
              <a:off x="637564" y="2171800"/>
              <a:ext cx="7046752" cy="536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100" dirty="0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Every skill, MCP, and plugin scanned before execution. </a:t>
              </a:r>
              <a:r>
                <a:rPr lang="en-US" sz="1100" dirty="0" err="1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CodeGuard</a:t>
              </a:r>
              <a:r>
                <a:rPr lang="en-US" sz="1100" dirty="0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detects credentials, eval(), shell injection, SQL injection. Nothing bypasses the admission gate.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B607FD4-65E9-6932-489A-9E7AEDE1D56F}"/>
              </a:ext>
            </a:extLst>
          </p:cNvPr>
          <p:cNvGrpSpPr/>
          <p:nvPr/>
        </p:nvGrpSpPr>
        <p:grpSpPr>
          <a:xfrm>
            <a:off x="438866" y="3086674"/>
            <a:ext cx="7581009" cy="1183322"/>
            <a:chOff x="438866" y="3086674"/>
            <a:chExt cx="7581009" cy="1183322"/>
          </a:xfrm>
        </p:grpSpPr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1C16D51D-8616-6575-421D-C3F65047DCB6}"/>
                </a:ext>
              </a:extLst>
            </p:cNvPr>
            <p:cNvSpPr/>
            <p:nvPr/>
          </p:nvSpPr>
          <p:spPr>
            <a:xfrm>
              <a:off x="438866" y="3086674"/>
              <a:ext cx="7581009" cy="1183322"/>
            </a:xfrm>
            <a:prstGeom prst="rect">
              <a:avLst/>
            </a:prstGeom>
            <a:gradFill>
              <a:gsLst>
                <a:gs pos="14000">
                  <a:schemeClr val="accent1">
                    <a:alpha val="9807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>
              <a:solidFill>
                <a:schemeClr val="bg2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946E61-1DCE-1615-378D-DD93D7072FC8}"/>
                </a:ext>
              </a:extLst>
            </p:cNvPr>
            <p:cNvSpPr txBox="1"/>
            <p:nvPr/>
          </p:nvSpPr>
          <p:spPr>
            <a:xfrm>
              <a:off x="637564" y="3216758"/>
              <a:ext cx="5068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</a:rPr>
                <a:t>02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6F8B8E-FF1C-6BB3-F9AA-36064CD83763}"/>
                </a:ext>
              </a:extLst>
            </p:cNvPr>
            <p:cNvSpPr txBox="1"/>
            <p:nvPr/>
          </p:nvSpPr>
          <p:spPr>
            <a:xfrm>
              <a:off x="1140903" y="3262924"/>
              <a:ext cx="26388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</a:rPr>
                <a:t>Runtime Threat Detection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AE0C02-826E-C072-59CF-283D26BFD604}"/>
                </a:ext>
              </a:extLst>
            </p:cNvPr>
            <p:cNvSpPr txBox="1"/>
            <p:nvPr/>
          </p:nvSpPr>
          <p:spPr>
            <a:xfrm>
              <a:off x="637564" y="3531372"/>
              <a:ext cx="7046752" cy="536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100" dirty="0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Inspects every LLM prompt and completion across 7 AI providers. Monitors all tool calls through 6 security rule categories. Agents evolve - security must watch continuously.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8C305E-1F2D-0BBF-85E6-556B863A522F}"/>
              </a:ext>
            </a:extLst>
          </p:cNvPr>
          <p:cNvGrpSpPr/>
          <p:nvPr/>
        </p:nvGrpSpPr>
        <p:grpSpPr>
          <a:xfrm>
            <a:off x="438866" y="4446246"/>
            <a:ext cx="7581009" cy="1183322"/>
            <a:chOff x="438866" y="4446246"/>
            <a:chExt cx="7581009" cy="1183322"/>
          </a:xfrm>
        </p:grpSpPr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A0240673-0821-983C-D44C-9050E3C1ECB4}"/>
                </a:ext>
              </a:extLst>
            </p:cNvPr>
            <p:cNvSpPr/>
            <p:nvPr/>
          </p:nvSpPr>
          <p:spPr>
            <a:xfrm>
              <a:off x="438866" y="4446246"/>
              <a:ext cx="7581009" cy="1183322"/>
            </a:xfrm>
            <a:prstGeom prst="rect">
              <a:avLst/>
            </a:prstGeom>
            <a:gradFill>
              <a:gsLst>
                <a:gs pos="14000">
                  <a:schemeClr val="accent1">
                    <a:alpha val="9807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>
              <a:solidFill>
                <a:schemeClr val="bg2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D5F343-9A2B-D1C6-879C-957489F63B7D}"/>
                </a:ext>
              </a:extLst>
            </p:cNvPr>
            <p:cNvSpPr txBox="1"/>
            <p:nvPr/>
          </p:nvSpPr>
          <p:spPr>
            <a:xfrm>
              <a:off x="637564" y="4576330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</a:rPr>
                <a:t>03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6B91DF-43C8-ECDA-5C35-D99B2D19E44A}"/>
                </a:ext>
              </a:extLst>
            </p:cNvPr>
            <p:cNvSpPr txBox="1"/>
            <p:nvPr/>
          </p:nvSpPr>
          <p:spPr>
            <a:xfrm>
              <a:off x="1140903" y="4622496"/>
              <a:ext cx="26997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</a:rPr>
                <a:t>Enforced Block/Allow Lists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721CD5-DC80-F3E8-0238-E8E922D1F7E2}"/>
                </a:ext>
              </a:extLst>
            </p:cNvPr>
            <p:cNvSpPr txBox="1"/>
            <p:nvPr/>
          </p:nvSpPr>
          <p:spPr>
            <a:xfrm>
              <a:off x="637564" y="4890944"/>
              <a:ext cx="6962862" cy="536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100" dirty="0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Block a skill: sandbox permissions revoked, files quarantined. Audit logging to SQLite with SIEM export (Splunk HEC, OTLP). Webhook alerts to Slack, PagerDuty, </a:t>
              </a:r>
              <a:r>
                <a:rPr lang="en-US" sz="1100" dirty="0" err="1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WebEx</a:t>
              </a:r>
              <a:r>
                <a:rPr lang="en-US" sz="1100" dirty="0">
                  <a:solidFill>
                    <a:schemeClr val="bg1">
                      <a:alpha val="65226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BD66CD4-96B9-39A7-8997-217096F3A05E}"/>
              </a:ext>
            </a:extLst>
          </p:cNvPr>
          <p:cNvSpPr txBox="1">
            <a:spLocks/>
          </p:cNvSpPr>
          <p:nvPr/>
        </p:nvSpPr>
        <p:spPr>
          <a:xfrm>
            <a:off x="532488" y="5866020"/>
            <a:ext cx="6331049" cy="23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Defense-in-depth: if one layer fails, the others still protect you.</a:t>
            </a:r>
          </a:p>
        </p:txBody>
      </p:sp>
    </p:spTree>
    <p:extLst>
      <p:ext uri="{BB962C8B-B14F-4D97-AF65-F5344CB8AC3E}">
        <p14:creationId xmlns:p14="http://schemas.microsoft.com/office/powerpoint/2010/main" val="2120625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322B-02A1-9F0B-4572-F5D0933F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DefenseClaw</a:t>
            </a:r>
            <a:r>
              <a:rPr lang="en-US" dirty="0"/>
              <a:t> Security Modes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2051E-156B-FF13-9915-803E97ACA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4571600" cy="367000"/>
          </a:xfrm>
        </p:spPr>
        <p:txBody>
          <a:bodyPr/>
          <a:lstStyle/>
          <a:p>
            <a:r>
              <a:rPr lang="en-US" dirty="0"/>
              <a:t>From Observe to Action - Production Ready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EC861A-83FE-8C72-2B79-C8E707154243}"/>
              </a:ext>
            </a:extLst>
          </p:cNvPr>
          <p:cNvGrpSpPr/>
          <p:nvPr/>
        </p:nvGrpSpPr>
        <p:grpSpPr>
          <a:xfrm>
            <a:off x="438867" y="4126847"/>
            <a:ext cx="6045823" cy="1419923"/>
            <a:chOff x="438867" y="4126847"/>
            <a:chExt cx="6045823" cy="141992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793AAC2-8606-C2B2-039D-F9B71D03701E}"/>
                </a:ext>
              </a:extLst>
            </p:cNvPr>
            <p:cNvSpPr/>
            <p:nvPr/>
          </p:nvSpPr>
          <p:spPr>
            <a:xfrm>
              <a:off x="438867" y="4126847"/>
              <a:ext cx="6045823" cy="1419923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0C1842-44EF-D2A5-E7FF-F95DE1E9A5BA}"/>
                </a:ext>
              </a:extLst>
            </p:cNvPr>
            <p:cNvSpPr txBox="1"/>
            <p:nvPr/>
          </p:nvSpPr>
          <p:spPr>
            <a:xfrm>
              <a:off x="672304" y="4327133"/>
              <a:ext cx="571171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defenseclaw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skill scan &lt;name&gt;          </a:t>
              </a:r>
            </a:p>
            <a:p>
              <a:pPr marL="0" indent="0">
                <a:buNone/>
              </a:pP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defenseclaw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setup guardrail --mode action   </a:t>
              </a:r>
            </a:p>
            <a:p>
              <a:pPr marL="0" indent="0">
                <a:buNone/>
              </a:pP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defenseclaw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alerts --export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&gt;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audit.json</a:t>
              </a: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9511889-2E85-623A-4E54-A9971BB2DD01}"/>
              </a:ext>
            </a:extLst>
          </p:cNvPr>
          <p:cNvGrpSpPr/>
          <p:nvPr/>
        </p:nvGrpSpPr>
        <p:grpSpPr>
          <a:xfrm>
            <a:off x="715704" y="1967958"/>
            <a:ext cx="3956453" cy="1461042"/>
            <a:chOff x="715704" y="1967958"/>
            <a:chExt cx="3956453" cy="1461042"/>
          </a:xfrm>
        </p:grpSpPr>
        <p:sp>
          <p:nvSpPr>
            <p:cNvPr id="5" name="Text Placeholder 3">
              <a:extLst>
                <a:ext uri="{FF2B5EF4-FFF2-40B4-BE49-F238E27FC236}">
                  <a16:creationId xmlns:a16="http://schemas.microsoft.com/office/drawing/2014/main" id="{252F7EC4-4D3C-20CB-D680-FCDA4742D842}"/>
                </a:ext>
              </a:extLst>
            </p:cNvPr>
            <p:cNvSpPr txBox="1">
              <a:spLocks/>
            </p:cNvSpPr>
            <p:nvPr/>
          </p:nvSpPr>
          <p:spPr>
            <a:xfrm>
              <a:off x="1330851" y="2049010"/>
              <a:ext cx="3341306" cy="299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Observe Mode</a:t>
              </a: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F6BD6CE9-5CBF-EFB9-E1C3-0462E3F5ED4B}"/>
                </a:ext>
              </a:extLst>
            </p:cNvPr>
            <p:cNvSpPr txBox="1">
              <a:spLocks/>
            </p:cNvSpPr>
            <p:nvPr/>
          </p:nvSpPr>
          <p:spPr>
            <a:xfrm>
              <a:off x="715704" y="2396394"/>
              <a:ext cx="3856535" cy="1032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lnSpc>
                  <a:spcPts val="2000"/>
                </a:lnSpc>
                <a:spcBef>
                  <a:spcPts val="1200"/>
                </a:spcBef>
                <a:buNone/>
              </a:pPr>
              <a:r>
                <a:rPr lang="en-US" sz="1200" dirty="0"/>
                <a:t>Default mode. Logs all security events without blocking. Perfect for onboarding and development. Understand your workflow's security profile first.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F56EB16-A347-09D7-F98A-53280E8D3D1D}"/>
                </a:ext>
              </a:extLst>
            </p:cNvPr>
            <p:cNvSpPr/>
            <p:nvPr/>
          </p:nvSpPr>
          <p:spPr>
            <a:xfrm>
              <a:off x="715704" y="1967958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EE2CC3F-7035-EFFA-873B-84CEF6B727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5622" y="2084654"/>
              <a:ext cx="228600" cy="2286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A19C9C-952E-369F-BD4F-C4D28CD267BC}"/>
              </a:ext>
            </a:extLst>
          </p:cNvPr>
          <p:cNvGrpSpPr/>
          <p:nvPr/>
        </p:nvGrpSpPr>
        <p:grpSpPr>
          <a:xfrm>
            <a:off x="5514207" y="1967958"/>
            <a:ext cx="3956453" cy="1461042"/>
            <a:chOff x="5514207" y="1967958"/>
            <a:chExt cx="3956453" cy="1461042"/>
          </a:xfrm>
        </p:grpSpPr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C57ECDE5-ABDA-1163-3151-1D652739A30F}"/>
                </a:ext>
              </a:extLst>
            </p:cNvPr>
            <p:cNvSpPr txBox="1">
              <a:spLocks/>
            </p:cNvSpPr>
            <p:nvPr/>
          </p:nvSpPr>
          <p:spPr>
            <a:xfrm>
              <a:off x="6129354" y="2049010"/>
              <a:ext cx="3341306" cy="299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Action Mode</a:t>
              </a:r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96D22090-8360-F78E-3348-5B1FF0BA385F}"/>
                </a:ext>
              </a:extLst>
            </p:cNvPr>
            <p:cNvSpPr txBox="1">
              <a:spLocks/>
            </p:cNvSpPr>
            <p:nvPr/>
          </p:nvSpPr>
          <p:spPr>
            <a:xfrm>
              <a:off x="5514207" y="2396394"/>
              <a:ext cx="3856535" cy="1032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lnSpc>
                  <a:spcPts val="2000"/>
                </a:lnSpc>
                <a:spcBef>
                  <a:spcPts val="1200"/>
                </a:spcBef>
                <a:buNone/>
              </a:pPr>
              <a:r>
                <a:rPr lang="en-US" sz="1200" dirty="0"/>
                <a:t>Actively blocks dangerous operations. Use for production deployments. Enforces all security policies in real-time.</a:t>
              </a:r>
            </a:p>
            <a:p>
              <a:pPr marL="0" indent="0">
                <a:lnSpc>
                  <a:spcPts val="2000"/>
                </a:lnSpc>
                <a:spcBef>
                  <a:spcPts val="1200"/>
                </a:spcBef>
                <a:buNone/>
              </a:pPr>
              <a:endParaRPr lang="en-US" sz="1200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DE0A190-2596-B301-F022-EC01E405140B}"/>
                </a:ext>
              </a:extLst>
            </p:cNvPr>
            <p:cNvSpPr/>
            <p:nvPr/>
          </p:nvSpPr>
          <p:spPr>
            <a:xfrm>
              <a:off x="5514207" y="1967958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CC6C128-3F4A-06D9-FD21-8219E58132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14125" y="2084654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1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17CE-45BF-F6F4-43C8-0829B099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4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3-Ring Defense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4446-DE42-494F-3833-EE5A11BF8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400" y="1159796"/>
            <a:ext cx="4571600" cy="350222"/>
          </a:xfrm>
        </p:spPr>
        <p:txBody>
          <a:bodyPr/>
          <a:lstStyle/>
          <a:p>
            <a:pPr algn="ctr"/>
            <a:r>
              <a:rPr lang="en-US" dirty="0"/>
              <a:t>Defense in Depth for AI Agents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46D91C-5241-A29A-FB94-179C7974E44E}"/>
              </a:ext>
            </a:extLst>
          </p:cNvPr>
          <p:cNvGrpSpPr/>
          <p:nvPr/>
        </p:nvGrpSpPr>
        <p:grpSpPr>
          <a:xfrm>
            <a:off x="2895600" y="1976446"/>
            <a:ext cx="6400800" cy="3474720"/>
            <a:chOff x="2895600" y="1976446"/>
            <a:chExt cx="6400800" cy="347472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362DB55-D879-9CA1-BBCC-745416F3CEC4}"/>
                </a:ext>
              </a:extLst>
            </p:cNvPr>
            <p:cNvSpPr/>
            <p:nvPr/>
          </p:nvSpPr>
          <p:spPr>
            <a:xfrm>
              <a:off x="2895600" y="1976446"/>
              <a:ext cx="6400800" cy="3474720"/>
            </a:xfrm>
            <a:prstGeom prst="rect">
              <a:avLst/>
            </a:prstGeom>
            <a:solidFill>
              <a:schemeClr val="accent3">
                <a:alpha val="8534"/>
              </a:schemeClr>
            </a:solidFill>
            <a:ln>
              <a:solidFill>
                <a:schemeClr val="accent3"/>
              </a:solidFill>
            </a:ln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04F26323-1A2D-2D03-0AAD-ABB15B5C8ABF}"/>
                </a:ext>
              </a:extLst>
            </p:cNvPr>
            <p:cNvSpPr/>
            <p:nvPr/>
          </p:nvSpPr>
          <p:spPr>
            <a:xfrm>
              <a:off x="3078480" y="2067886"/>
              <a:ext cx="6035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3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RING 1  </a:t>
              </a:r>
              <a:r>
                <a:rPr lang="en-US" sz="1300" b="1" dirty="0" err="1">
                  <a:solidFill>
                    <a:schemeClr val="bg1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OpenShell</a:t>
              </a: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 Sandbox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D670F139-D9FA-4E98-E615-D3EA8A239836}"/>
                </a:ext>
              </a:extLst>
            </p:cNvPr>
            <p:cNvSpPr/>
            <p:nvPr/>
          </p:nvSpPr>
          <p:spPr>
            <a:xfrm>
              <a:off x="3078480" y="2387926"/>
              <a:ext cx="6035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Kernel isolation  |  Network namespaces  |  Deny-by-default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439206-35B1-EB72-DA80-0A5441FAB8BF}"/>
              </a:ext>
            </a:extLst>
          </p:cNvPr>
          <p:cNvGrpSpPr/>
          <p:nvPr/>
        </p:nvGrpSpPr>
        <p:grpSpPr>
          <a:xfrm>
            <a:off x="3627120" y="2799406"/>
            <a:ext cx="4937760" cy="2194560"/>
            <a:chOff x="3627120" y="2799406"/>
            <a:chExt cx="4937760" cy="219456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589CE57-6967-0A3F-6729-89EEE34B55E7}"/>
                </a:ext>
              </a:extLst>
            </p:cNvPr>
            <p:cNvSpPr/>
            <p:nvPr/>
          </p:nvSpPr>
          <p:spPr>
            <a:xfrm>
              <a:off x="3627120" y="2799406"/>
              <a:ext cx="4937760" cy="219456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 w="6350">
              <a:solidFill>
                <a:schemeClr val="accent2"/>
              </a:solidFill>
            </a:ln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399B2F52-0B75-D9CE-FDC1-73AF482F447C}"/>
                </a:ext>
              </a:extLst>
            </p:cNvPr>
            <p:cNvSpPr/>
            <p:nvPr/>
          </p:nvSpPr>
          <p:spPr>
            <a:xfrm>
              <a:off x="3810000" y="2890846"/>
              <a:ext cx="4572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RING 2  </a:t>
              </a:r>
              <a:r>
                <a:rPr lang="en-US" sz="1300" b="1" dirty="0" err="1">
                  <a:solidFill>
                    <a:schemeClr val="bg1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DefenseClaw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7BC6523D-665A-147E-5099-3165682CDC16}"/>
                </a:ext>
              </a:extLst>
            </p:cNvPr>
            <p:cNvSpPr/>
            <p:nvPr/>
          </p:nvSpPr>
          <p:spPr>
            <a:xfrm>
              <a:off x="3810000" y="3165166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Skill scanning  |  Runtime inspection  |  LLM guardrails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D3A017-9F5B-1A23-D92C-D1F2106C4145}"/>
              </a:ext>
            </a:extLst>
          </p:cNvPr>
          <p:cNvGrpSpPr/>
          <p:nvPr/>
        </p:nvGrpSpPr>
        <p:grpSpPr>
          <a:xfrm>
            <a:off x="4450080" y="3576646"/>
            <a:ext cx="3291840" cy="1097280"/>
            <a:chOff x="4450080" y="3576646"/>
            <a:chExt cx="3291840" cy="1097280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5D723819-102A-5F5E-4856-4E389C2C54E8}"/>
                </a:ext>
              </a:extLst>
            </p:cNvPr>
            <p:cNvSpPr/>
            <p:nvPr/>
          </p:nvSpPr>
          <p:spPr>
            <a:xfrm>
              <a:off x="4450080" y="3576646"/>
              <a:ext cx="3291840" cy="1097280"/>
            </a:xfrm>
            <a:prstGeom prst="rect">
              <a:avLst/>
            </a:prstGeom>
            <a:solidFill>
              <a:schemeClr val="accent5">
                <a:alpha val="9000"/>
              </a:schemeClr>
            </a:solidFill>
            <a:ln w="6350">
              <a:solidFill>
                <a:schemeClr val="accent5"/>
              </a:solidFill>
            </a:ln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25269504-9A9F-A137-BE1D-66EC7C789394}"/>
                </a:ext>
              </a:extLst>
            </p:cNvPr>
            <p:cNvSpPr/>
            <p:nvPr/>
          </p:nvSpPr>
          <p:spPr>
            <a:xfrm>
              <a:off x="4632960" y="3668086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accent5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RING 3  </a:t>
              </a:r>
              <a:r>
                <a:rPr lang="en-US" sz="1300" b="1" dirty="0" err="1">
                  <a:solidFill>
                    <a:schemeClr val="bg1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NetClaw</a:t>
              </a: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 Agent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4D5CE039-F236-5AB2-9377-903965EC28BC}"/>
                </a:ext>
              </a:extLst>
            </p:cNvPr>
            <p:cNvSpPr/>
            <p:nvPr/>
          </p:nvSpPr>
          <p:spPr>
            <a:xfrm>
              <a:off x="4632960" y="3988126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112 Skills  |  51 MCPs  |  SOUL.md Rules</a:t>
              </a:r>
              <a:endPara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04B10E33-847C-EE7D-8792-08F5C679359B}"/>
                </a:ext>
              </a:extLst>
            </p:cNvPr>
            <p:cNvSpPr/>
            <p:nvPr/>
          </p:nvSpPr>
          <p:spPr>
            <a:xfrm>
              <a:off x="4632960" y="4262446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12 Non-Negotiable Safety Rules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59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D416-53EF-2C09-9E89-35D86562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12 Non-Negotiable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D54B3-212C-1D0E-D3CB-4C64D5C9B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Hardcoded Safety in </a:t>
            </a:r>
            <a:r>
              <a:rPr lang="en-US" dirty="0" err="1"/>
              <a:t>SOUL.md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9E1722-8C5B-335F-7BC7-678825FBAADC}"/>
              </a:ext>
            </a:extLst>
          </p:cNvPr>
          <p:cNvGrpSpPr/>
          <p:nvPr/>
        </p:nvGrpSpPr>
        <p:grpSpPr>
          <a:xfrm>
            <a:off x="521994" y="1707196"/>
            <a:ext cx="2170823" cy="1198169"/>
            <a:chOff x="438867" y="1707196"/>
            <a:chExt cx="2170823" cy="1198169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D87A5D9A-EC68-C69E-DE0A-35123572345A}"/>
                </a:ext>
              </a:extLst>
            </p:cNvPr>
            <p:cNvSpPr/>
            <p:nvPr/>
          </p:nvSpPr>
          <p:spPr>
            <a:xfrm>
              <a:off x="438867" y="170719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B1EE18B5-3451-0018-F690-5062C45C32D0}"/>
                </a:ext>
              </a:extLst>
            </p:cNvPr>
            <p:cNvSpPr/>
            <p:nvPr/>
          </p:nvSpPr>
          <p:spPr>
            <a:xfrm>
              <a:off x="642977" y="180236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6BD23645-0B70-82B3-1740-C2AA6F924751}"/>
                </a:ext>
              </a:extLst>
            </p:cNvPr>
            <p:cNvSpPr/>
            <p:nvPr/>
          </p:nvSpPr>
          <p:spPr>
            <a:xfrm>
              <a:off x="642977" y="206120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Always verify device state first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55B411-8040-9F56-D7D2-A5421876C4AF}"/>
              </a:ext>
            </a:extLst>
          </p:cNvPr>
          <p:cNvGrpSpPr/>
          <p:nvPr/>
        </p:nvGrpSpPr>
        <p:grpSpPr>
          <a:xfrm>
            <a:off x="2951249" y="1707196"/>
            <a:ext cx="2170823" cy="1198169"/>
            <a:chOff x="2868122" y="1707196"/>
            <a:chExt cx="2170823" cy="1198169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C6A2B361-5556-DA49-3D89-50EBBA35D3BB}"/>
                </a:ext>
              </a:extLst>
            </p:cNvPr>
            <p:cNvSpPr/>
            <p:nvPr/>
          </p:nvSpPr>
          <p:spPr>
            <a:xfrm>
              <a:off x="2868122" y="170719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719A91D8-C378-E7AF-D6B8-F113629BE5FD}"/>
                </a:ext>
              </a:extLst>
            </p:cNvPr>
            <p:cNvSpPr/>
            <p:nvPr/>
          </p:nvSpPr>
          <p:spPr>
            <a:xfrm>
              <a:off x="3072231" y="180236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3B832BFA-B949-410E-DFB3-A1E880E719C8}"/>
                </a:ext>
              </a:extLst>
            </p:cNvPr>
            <p:cNvSpPr/>
            <p:nvPr/>
          </p:nvSpPr>
          <p:spPr>
            <a:xfrm>
              <a:off x="3072231" y="206120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Never apply config without baseline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C1544A-B9EB-60C1-CEEB-219206214244}"/>
              </a:ext>
            </a:extLst>
          </p:cNvPr>
          <p:cNvGrpSpPr/>
          <p:nvPr/>
        </p:nvGrpSpPr>
        <p:grpSpPr>
          <a:xfrm>
            <a:off x="5380503" y="1707196"/>
            <a:ext cx="2170823" cy="1198169"/>
            <a:chOff x="5297376" y="1707196"/>
            <a:chExt cx="2170823" cy="1198169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2CF34E51-0C26-BE98-556A-5AC36BCC8F00}"/>
                </a:ext>
              </a:extLst>
            </p:cNvPr>
            <p:cNvSpPr/>
            <p:nvPr/>
          </p:nvSpPr>
          <p:spPr>
            <a:xfrm>
              <a:off x="5297376" y="170719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A98D456B-8E30-1809-B397-08188FC4DFF5}"/>
                </a:ext>
              </a:extLst>
            </p:cNvPr>
            <p:cNvSpPr/>
            <p:nvPr/>
          </p:nvSpPr>
          <p:spPr>
            <a:xfrm>
              <a:off x="5501486" y="180236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E5AC8C36-2D64-10CA-96E9-624FD9263CBF}"/>
                </a:ext>
              </a:extLst>
            </p:cNvPr>
            <p:cNvSpPr/>
            <p:nvPr/>
          </p:nvSpPr>
          <p:spPr>
            <a:xfrm>
              <a:off x="5501486" y="206120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Never run destructive commands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A3E22E-3F6C-9B7F-89CB-8954D506690F}"/>
              </a:ext>
            </a:extLst>
          </p:cNvPr>
          <p:cNvGrpSpPr/>
          <p:nvPr/>
        </p:nvGrpSpPr>
        <p:grpSpPr>
          <a:xfrm>
            <a:off x="7726631" y="1707196"/>
            <a:ext cx="2170823" cy="1198169"/>
            <a:chOff x="7726631" y="1707196"/>
            <a:chExt cx="2170823" cy="1198169"/>
          </a:xfrm>
        </p:grpSpPr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7ABD438D-A836-3ACE-AC90-B53562514667}"/>
                </a:ext>
              </a:extLst>
            </p:cNvPr>
            <p:cNvSpPr/>
            <p:nvPr/>
          </p:nvSpPr>
          <p:spPr>
            <a:xfrm>
              <a:off x="7726631" y="170719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C488E097-A383-9E17-BF08-1AE271CCC8CC}"/>
                </a:ext>
              </a:extLst>
            </p:cNvPr>
            <p:cNvSpPr/>
            <p:nvPr/>
          </p:nvSpPr>
          <p:spPr>
            <a:xfrm>
              <a:off x="7930740" y="180236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04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79E3E87F-4077-DBAA-B6B8-981DF49C0A3D}"/>
                </a:ext>
              </a:extLst>
            </p:cNvPr>
            <p:cNvSpPr/>
            <p:nvPr/>
          </p:nvSpPr>
          <p:spPr>
            <a:xfrm>
              <a:off x="7930740" y="206120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Never skip Change Request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A25436-3262-F986-1124-E4D997ED6C1B}"/>
              </a:ext>
            </a:extLst>
          </p:cNvPr>
          <p:cNvGrpSpPr/>
          <p:nvPr/>
        </p:nvGrpSpPr>
        <p:grpSpPr>
          <a:xfrm>
            <a:off x="438867" y="3177676"/>
            <a:ext cx="2170823" cy="1198169"/>
            <a:chOff x="438867" y="3177676"/>
            <a:chExt cx="2170823" cy="1198169"/>
          </a:xfrm>
        </p:grpSpPr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AF01F48-946D-FD8C-4F53-EA1E77F175D8}"/>
                </a:ext>
              </a:extLst>
            </p:cNvPr>
            <p:cNvSpPr/>
            <p:nvPr/>
          </p:nvSpPr>
          <p:spPr>
            <a:xfrm>
              <a:off x="438867" y="317767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A7D6BB08-E436-6C65-2161-2685DB58CBF5}"/>
                </a:ext>
              </a:extLst>
            </p:cNvPr>
            <p:cNvSpPr/>
            <p:nvPr/>
          </p:nvSpPr>
          <p:spPr>
            <a:xfrm>
              <a:off x="642977" y="327284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05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91A5C94D-11F0-BE65-1A3F-D96061E0EA2B}"/>
                </a:ext>
              </a:extLst>
            </p:cNvPr>
            <p:cNvSpPr/>
            <p:nvPr/>
          </p:nvSpPr>
          <p:spPr>
            <a:xfrm>
              <a:off x="642977" y="353168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Never auto-quarantine (human gate)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1F3ADBC-0AA8-7279-9381-E40F9251EAFF}"/>
              </a:ext>
            </a:extLst>
          </p:cNvPr>
          <p:cNvGrpSpPr/>
          <p:nvPr/>
        </p:nvGrpSpPr>
        <p:grpSpPr>
          <a:xfrm>
            <a:off x="2868122" y="3177676"/>
            <a:ext cx="2170823" cy="1198169"/>
            <a:chOff x="2868122" y="3177676"/>
            <a:chExt cx="2170823" cy="1198169"/>
          </a:xfrm>
        </p:grpSpPr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FB0BE0A6-5CB9-64BE-A766-7932E2D0F1AF}"/>
                </a:ext>
              </a:extLst>
            </p:cNvPr>
            <p:cNvSpPr/>
            <p:nvPr/>
          </p:nvSpPr>
          <p:spPr>
            <a:xfrm>
              <a:off x="2868122" y="317767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F63FAC82-5F8B-777A-461F-3B975747C0FA}"/>
                </a:ext>
              </a:extLst>
            </p:cNvPr>
            <p:cNvSpPr/>
            <p:nvPr/>
          </p:nvSpPr>
          <p:spPr>
            <a:xfrm>
              <a:off x="3072231" y="327284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06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9A6705B6-0DA3-85EC-3385-54C48E164A73}"/>
                </a:ext>
              </a:extLst>
            </p:cNvPr>
            <p:cNvSpPr/>
            <p:nvPr/>
          </p:nvSpPr>
          <p:spPr>
            <a:xfrm>
              <a:off x="3072231" y="353168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NetBox is read-write DCIM/IPAM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5FE12E-C302-A97D-9764-4CF360452F67}"/>
              </a:ext>
            </a:extLst>
          </p:cNvPr>
          <p:cNvGrpSpPr/>
          <p:nvPr/>
        </p:nvGrpSpPr>
        <p:grpSpPr>
          <a:xfrm>
            <a:off x="5297376" y="3177676"/>
            <a:ext cx="2170823" cy="1198169"/>
            <a:chOff x="5297376" y="3177676"/>
            <a:chExt cx="2170823" cy="1198169"/>
          </a:xfrm>
        </p:grpSpPr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BFEB78B5-FECC-2F62-F825-F4E29B6F663D}"/>
                </a:ext>
              </a:extLst>
            </p:cNvPr>
            <p:cNvSpPr/>
            <p:nvPr/>
          </p:nvSpPr>
          <p:spPr>
            <a:xfrm>
              <a:off x="5297376" y="317767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DC0A22D1-4E07-FB18-5DA9-E6B57510EF11}"/>
                </a:ext>
              </a:extLst>
            </p:cNvPr>
            <p:cNvSpPr/>
            <p:nvPr/>
          </p:nvSpPr>
          <p:spPr>
            <a:xfrm>
              <a:off x="5501486" y="327284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07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78B2AF6E-BF87-27DC-4325-423A077EA6A8}"/>
                </a:ext>
              </a:extLst>
            </p:cNvPr>
            <p:cNvSpPr/>
            <p:nvPr/>
          </p:nvSpPr>
          <p:spPr>
            <a:xfrm>
              <a:off x="5501486" y="353168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Always verify after changes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E09FFA7-8D23-B918-592A-DEE63A5A9D5B}"/>
              </a:ext>
            </a:extLst>
          </p:cNvPr>
          <p:cNvGrpSpPr/>
          <p:nvPr/>
        </p:nvGrpSpPr>
        <p:grpSpPr>
          <a:xfrm>
            <a:off x="7726631" y="3177676"/>
            <a:ext cx="2170823" cy="1198169"/>
            <a:chOff x="7726631" y="3177676"/>
            <a:chExt cx="2170823" cy="1198169"/>
          </a:xfrm>
        </p:grpSpPr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65B9F32A-04E2-C1D6-E311-208C564F2DB6}"/>
                </a:ext>
              </a:extLst>
            </p:cNvPr>
            <p:cNvSpPr/>
            <p:nvPr/>
          </p:nvSpPr>
          <p:spPr>
            <a:xfrm>
              <a:off x="7726631" y="317767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CC294F22-A2EE-5C76-7FB8-7D04843E7CA8}"/>
                </a:ext>
              </a:extLst>
            </p:cNvPr>
            <p:cNvSpPr/>
            <p:nvPr/>
          </p:nvSpPr>
          <p:spPr>
            <a:xfrm>
              <a:off x="7930740" y="327284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08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3545B652-6579-EF5F-5B05-AC8253B5892B}"/>
                </a:ext>
              </a:extLst>
            </p:cNvPr>
            <p:cNvSpPr/>
            <p:nvPr/>
          </p:nvSpPr>
          <p:spPr>
            <a:xfrm>
              <a:off x="7930740" y="353168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Always commit to GAIT audit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66B4007-6CE3-3A98-9371-53F22B4FCD11}"/>
              </a:ext>
            </a:extLst>
          </p:cNvPr>
          <p:cNvGrpSpPr/>
          <p:nvPr/>
        </p:nvGrpSpPr>
        <p:grpSpPr>
          <a:xfrm>
            <a:off x="438867" y="4648156"/>
            <a:ext cx="2170823" cy="1198169"/>
            <a:chOff x="438867" y="4648156"/>
            <a:chExt cx="2170823" cy="1198169"/>
          </a:xfrm>
        </p:grpSpPr>
        <p:sp>
          <p:nvSpPr>
            <p:cNvPr id="29" name="Shape 26">
              <a:extLst>
                <a:ext uri="{FF2B5EF4-FFF2-40B4-BE49-F238E27FC236}">
                  <a16:creationId xmlns:a16="http://schemas.microsoft.com/office/drawing/2014/main" id="{601A62D0-81F6-04B4-C0E7-64F319E37295}"/>
                </a:ext>
              </a:extLst>
            </p:cNvPr>
            <p:cNvSpPr/>
            <p:nvPr/>
          </p:nvSpPr>
          <p:spPr>
            <a:xfrm>
              <a:off x="438867" y="464815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0109E55F-6F38-663E-A70F-4AD800CF79FD}"/>
                </a:ext>
              </a:extLst>
            </p:cNvPr>
            <p:cNvSpPr/>
            <p:nvPr/>
          </p:nvSpPr>
          <p:spPr>
            <a:xfrm>
              <a:off x="642977" y="474332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09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31" name="Text 28">
              <a:extLst>
                <a:ext uri="{FF2B5EF4-FFF2-40B4-BE49-F238E27FC236}">
                  <a16:creationId xmlns:a16="http://schemas.microsoft.com/office/drawing/2014/main" id="{416FCD2A-13FF-728C-558F-D8E74E931589}"/>
                </a:ext>
              </a:extLst>
            </p:cNvPr>
            <p:cNvSpPr/>
            <p:nvPr/>
          </p:nvSpPr>
          <p:spPr>
            <a:xfrm>
              <a:off x="642977" y="500216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Cite RFCs for protocol behavior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7167A55-D74B-4474-8ED9-E44E376E8274}"/>
              </a:ext>
            </a:extLst>
          </p:cNvPr>
          <p:cNvGrpSpPr/>
          <p:nvPr/>
        </p:nvGrpSpPr>
        <p:grpSpPr>
          <a:xfrm>
            <a:off x="2868122" y="4648156"/>
            <a:ext cx="2170823" cy="1198169"/>
            <a:chOff x="2868122" y="4648156"/>
            <a:chExt cx="2170823" cy="1198169"/>
          </a:xfrm>
        </p:grpSpPr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C562F892-CC8E-4E2F-26C6-C1696D736FD7}"/>
                </a:ext>
              </a:extLst>
            </p:cNvPr>
            <p:cNvSpPr/>
            <p:nvPr/>
          </p:nvSpPr>
          <p:spPr>
            <a:xfrm>
              <a:off x="2868122" y="464815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000E7159-17CE-123F-381F-7F0B955617E3}"/>
                </a:ext>
              </a:extLst>
            </p:cNvPr>
            <p:cNvSpPr/>
            <p:nvPr/>
          </p:nvSpPr>
          <p:spPr>
            <a:xfrm>
              <a:off x="3072231" y="474332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10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D6181987-1C43-54FA-F06E-389F525C1FFC}"/>
                </a:ext>
              </a:extLst>
            </p:cNvPr>
            <p:cNvSpPr/>
            <p:nvPr/>
          </p:nvSpPr>
          <p:spPr>
            <a:xfrm>
              <a:off x="3072231" y="500216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Flag CVEs for vulnerable versions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06B495-0273-1CB7-15E3-06F1099D5127}"/>
              </a:ext>
            </a:extLst>
          </p:cNvPr>
          <p:cNvGrpSpPr/>
          <p:nvPr/>
        </p:nvGrpSpPr>
        <p:grpSpPr>
          <a:xfrm>
            <a:off x="5297376" y="4648156"/>
            <a:ext cx="2170823" cy="1198169"/>
            <a:chOff x="5297376" y="4648156"/>
            <a:chExt cx="2170823" cy="1198169"/>
          </a:xfrm>
        </p:grpSpPr>
        <p:sp>
          <p:nvSpPr>
            <p:cNvPr id="35" name="Shape 32">
              <a:extLst>
                <a:ext uri="{FF2B5EF4-FFF2-40B4-BE49-F238E27FC236}">
                  <a16:creationId xmlns:a16="http://schemas.microsoft.com/office/drawing/2014/main" id="{9226508A-A9B3-5DE9-EC94-97A776666D2F}"/>
                </a:ext>
              </a:extLst>
            </p:cNvPr>
            <p:cNvSpPr/>
            <p:nvPr/>
          </p:nvSpPr>
          <p:spPr>
            <a:xfrm>
              <a:off x="5297376" y="464815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78EC13E9-7660-93DF-CDD6-60A47149010E}"/>
                </a:ext>
              </a:extLst>
            </p:cNvPr>
            <p:cNvSpPr/>
            <p:nvPr/>
          </p:nvSpPr>
          <p:spPr>
            <a:xfrm>
              <a:off x="5501486" y="474332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11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74A0C9D8-A188-62DF-3609-DD03348B707F}"/>
                </a:ext>
              </a:extLst>
            </p:cNvPr>
            <p:cNvSpPr/>
            <p:nvPr/>
          </p:nvSpPr>
          <p:spPr>
            <a:xfrm>
              <a:off x="5501486" y="500216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Escalate when unsure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8590F0-6CD4-8BB7-0DD8-AEA1140C0C3E}"/>
              </a:ext>
            </a:extLst>
          </p:cNvPr>
          <p:cNvGrpSpPr/>
          <p:nvPr/>
        </p:nvGrpSpPr>
        <p:grpSpPr>
          <a:xfrm>
            <a:off x="7726631" y="4648156"/>
            <a:ext cx="2170823" cy="1198169"/>
            <a:chOff x="7726631" y="4648156"/>
            <a:chExt cx="2170823" cy="1198169"/>
          </a:xfrm>
        </p:grpSpPr>
        <p:sp>
          <p:nvSpPr>
            <p:cNvPr id="38" name="Shape 35">
              <a:extLst>
                <a:ext uri="{FF2B5EF4-FFF2-40B4-BE49-F238E27FC236}">
                  <a16:creationId xmlns:a16="http://schemas.microsoft.com/office/drawing/2014/main" id="{2A4394A1-1691-E545-805B-25F016B43F79}"/>
                </a:ext>
              </a:extLst>
            </p:cNvPr>
            <p:cNvSpPr/>
            <p:nvPr/>
          </p:nvSpPr>
          <p:spPr>
            <a:xfrm>
              <a:off x="7726631" y="4648156"/>
              <a:ext cx="2170823" cy="1198169"/>
            </a:xfrm>
            <a:prstGeom prst="rect">
              <a:avLst/>
            </a:prstGeom>
            <a:gradFill>
              <a:gsLst>
                <a:gs pos="14000">
                  <a:schemeClr val="accent1">
                    <a:alpha val="18000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2700000" scaled="1"/>
            </a:gradFill>
            <a:ln/>
            <a:effectLst>
              <a:outerShdw blurRad="101600" dist="254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D4B8E296-E97E-CFD2-D858-438B7775ECBE}"/>
                </a:ext>
              </a:extLst>
            </p:cNvPr>
            <p:cNvSpPr/>
            <p:nvPr/>
          </p:nvSpPr>
          <p:spPr>
            <a:xfrm>
              <a:off x="7930740" y="4743328"/>
              <a:ext cx="516863" cy="38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12</a:t>
              </a:r>
              <a:endParaRPr lang="en-US" sz="20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40" name="Text 37">
              <a:extLst>
                <a:ext uri="{FF2B5EF4-FFF2-40B4-BE49-F238E27FC236}">
                  <a16:creationId xmlns:a16="http://schemas.microsoft.com/office/drawing/2014/main" id="{BCE48F6E-CD97-3629-0FDB-D114529B4151}"/>
                </a:ext>
              </a:extLst>
            </p:cNvPr>
            <p:cNvSpPr/>
            <p:nvPr/>
          </p:nvSpPr>
          <p:spPr>
            <a:xfrm>
              <a:off x="7930740" y="5002160"/>
              <a:ext cx="1708210" cy="653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100" dirty="0">
                  <a:solidFill>
                    <a:srgbClr val="F0F4F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Always use the right skill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8090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1740-E48E-9B9B-3109-32E9A39D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VIRP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7B17F-D008-15AD-2A64-23EA19D49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5936766" cy="274721"/>
          </a:xfrm>
        </p:spPr>
        <p:txBody>
          <a:bodyPr/>
          <a:lstStyle/>
          <a:p>
            <a:r>
              <a:rPr lang="en-US" dirty="0"/>
              <a:t>Verified Infrastructure Response Protocol - by Nathan Howard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0AD7804-C86D-322C-DCCA-9EF4FB44D609}"/>
              </a:ext>
            </a:extLst>
          </p:cNvPr>
          <p:cNvSpPr txBox="1">
            <a:spLocks/>
          </p:cNvSpPr>
          <p:nvPr/>
        </p:nvSpPr>
        <p:spPr>
          <a:xfrm>
            <a:off x="438867" y="1730249"/>
            <a:ext cx="5936766" cy="27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400" i="1" dirty="0">
                <a:solidFill>
                  <a:schemeClr val="accent2"/>
                </a:solidFill>
              </a:rPr>
              <a:t>Born from the </a:t>
            </a:r>
            <a:r>
              <a:rPr lang="en-US" sz="1400" i="1" dirty="0" err="1">
                <a:solidFill>
                  <a:schemeClr val="accent2"/>
                </a:solidFill>
              </a:rPr>
              <a:t>NetClaw</a:t>
            </a:r>
            <a:r>
              <a:rPr lang="en-US" sz="1400" i="1" dirty="0">
                <a:solidFill>
                  <a:schemeClr val="accent2"/>
                </a:solidFill>
              </a:rPr>
              <a:t> community. Now an IETF Internet-Draft.</a:t>
            </a:r>
          </a:p>
          <a:p>
            <a:endParaRPr lang="en-US" sz="1400" i="1" dirty="0">
              <a:solidFill>
                <a:schemeClr val="accent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829A41-3D6C-088C-F292-DB804EBCC928}"/>
              </a:ext>
            </a:extLst>
          </p:cNvPr>
          <p:cNvGrpSpPr/>
          <p:nvPr/>
        </p:nvGrpSpPr>
        <p:grpSpPr>
          <a:xfrm>
            <a:off x="609600" y="2160585"/>
            <a:ext cx="8001000" cy="365760"/>
            <a:chOff x="609600" y="2160585"/>
            <a:chExt cx="8001000" cy="365760"/>
          </a:xfrm>
        </p:grpSpPr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BC71808E-1E3B-8341-A81B-8755AE474A83}"/>
                </a:ext>
              </a:extLst>
            </p:cNvPr>
            <p:cNvSpPr/>
            <p:nvPr/>
          </p:nvSpPr>
          <p:spPr>
            <a:xfrm>
              <a:off x="609600" y="2160585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1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206783C3-7215-C0D5-067B-1878433F927F}"/>
                </a:ext>
              </a:extLst>
            </p:cNvPr>
            <p:cNvSpPr/>
            <p:nvPr/>
          </p:nvSpPr>
          <p:spPr>
            <a:xfrm>
              <a:off x="1203960" y="2160585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Verified Observation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244DD760-9D92-D334-3D7B-97B458B0B28D}"/>
                </a:ext>
              </a:extLst>
            </p:cNvPr>
            <p:cNvSpPr/>
            <p:nvPr/>
          </p:nvSpPr>
          <p:spPr>
            <a:xfrm>
              <a:off x="3581400" y="2160585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Ed25519 signed at collection. AI cannot fabricate telemetry.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DAAFFE-9F97-3E41-D724-D40BFB5097E9}"/>
              </a:ext>
            </a:extLst>
          </p:cNvPr>
          <p:cNvGrpSpPr/>
          <p:nvPr/>
        </p:nvGrpSpPr>
        <p:grpSpPr>
          <a:xfrm>
            <a:off x="609600" y="2599497"/>
            <a:ext cx="8001000" cy="365760"/>
            <a:chOff x="609600" y="2599497"/>
            <a:chExt cx="8001000" cy="365760"/>
          </a:xfrm>
        </p:grpSpPr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01DA300-2C9B-96AF-CF8A-AFD78B6FB2FF}"/>
                </a:ext>
              </a:extLst>
            </p:cNvPr>
            <p:cNvSpPr/>
            <p:nvPr/>
          </p:nvSpPr>
          <p:spPr>
            <a:xfrm>
              <a:off x="609600" y="2599497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2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6BE55A53-1D07-8853-D3BE-7A26851C02D1}"/>
                </a:ext>
              </a:extLst>
            </p:cNvPr>
            <p:cNvSpPr/>
            <p:nvPr/>
          </p:nvSpPr>
          <p:spPr>
            <a:xfrm>
              <a:off x="1203960" y="2599497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Tiered Authorization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497E9BD2-468F-C11B-1F74-89F31D954CFE}"/>
                </a:ext>
              </a:extLst>
            </p:cNvPr>
            <p:cNvSpPr/>
            <p:nvPr/>
          </p:nvSpPr>
          <p:spPr>
            <a:xfrm>
              <a:off x="3581400" y="2599497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GREEN / YELLOW / RED / BLACK trust tiers with human gates.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BDD49C2-BECA-7083-57CB-A3330A627D50}"/>
              </a:ext>
            </a:extLst>
          </p:cNvPr>
          <p:cNvGrpSpPr/>
          <p:nvPr/>
        </p:nvGrpSpPr>
        <p:grpSpPr>
          <a:xfrm>
            <a:off x="609600" y="3038409"/>
            <a:ext cx="8001000" cy="365760"/>
            <a:chOff x="609600" y="3038409"/>
            <a:chExt cx="8001000" cy="365760"/>
          </a:xfrm>
        </p:grpSpPr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63AB0D04-725B-98AC-1AEC-2D8B6A6AA41F}"/>
                </a:ext>
              </a:extLst>
            </p:cNvPr>
            <p:cNvSpPr/>
            <p:nvPr/>
          </p:nvSpPr>
          <p:spPr>
            <a:xfrm>
              <a:off x="609600" y="3038409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3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91F14D60-D05F-A7C6-239A-E3F9DADB811E}"/>
                </a:ext>
              </a:extLst>
            </p:cNvPr>
            <p:cNvSpPr/>
            <p:nvPr/>
          </p:nvSpPr>
          <p:spPr>
            <a:xfrm>
              <a:off x="1203960" y="3038409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Verified Intent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59C011D3-7934-58F5-BC9C-24711D0679F7}"/>
                </a:ext>
              </a:extLst>
            </p:cNvPr>
            <p:cNvSpPr/>
            <p:nvPr/>
          </p:nvSpPr>
          <p:spPr>
            <a:xfrm>
              <a:off x="3581400" y="3038409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Every change is a signed object referencing specific observations.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F80492B-D94D-D32D-9E4D-24E922406AD9}"/>
              </a:ext>
            </a:extLst>
          </p:cNvPr>
          <p:cNvGrpSpPr/>
          <p:nvPr/>
        </p:nvGrpSpPr>
        <p:grpSpPr>
          <a:xfrm>
            <a:off x="609600" y="3477321"/>
            <a:ext cx="8001000" cy="365760"/>
            <a:chOff x="609600" y="3477321"/>
            <a:chExt cx="8001000" cy="365760"/>
          </a:xfrm>
        </p:grpSpPr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66AB377-38D5-643B-EA7A-C5FB70DA3142}"/>
                </a:ext>
              </a:extLst>
            </p:cNvPr>
            <p:cNvSpPr/>
            <p:nvPr/>
          </p:nvSpPr>
          <p:spPr>
            <a:xfrm>
              <a:off x="609600" y="3477321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4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52F129B1-A2E9-B36A-44F4-DC09DD6F69B7}"/>
                </a:ext>
              </a:extLst>
            </p:cNvPr>
            <p:cNvSpPr/>
            <p:nvPr/>
          </p:nvSpPr>
          <p:spPr>
            <a:xfrm>
              <a:off x="1203960" y="3477321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Verified Outcome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F632BE52-0E8E-0D40-621C-16927D7D3F3B}"/>
                </a:ext>
              </a:extLst>
            </p:cNvPr>
            <p:cNvSpPr/>
            <p:nvPr/>
          </p:nvSpPr>
          <p:spPr>
            <a:xfrm>
              <a:off x="3581400" y="3477321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Automatic before/after state comparison after every change.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7DA483-371A-3894-52C6-02B04FFAE440}"/>
              </a:ext>
            </a:extLst>
          </p:cNvPr>
          <p:cNvGrpSpPr/>
          <p:nvPr/>
        </p:nvGrpSpPr>
        <p:grpSpPr>
          <a:xfrm>
            <a:off x="609600" y="3916233"/>
            <a:ext cx="8001000" cy="365760"/>
            <a:chOff x="609600" y="3916233"/>
            <a:chExt cx="8001000" cy="365760"/>
          </a:xfrm>
        </p:grpSpPr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095E83D4-8F96-7742-2A2A-7D48685DA9FA}"/>
                </a:ext>
              </a:extLst>
            </p:cNvPr>
            <p:cNvSpPr/>
            <p:nvPr/>
          </p:nvSpPr>
          <p:spPr>
            <a:xfrm>
              <a:off x="609600" y="3916233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5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03050583-0B29-73D4-5CD8-64B1F74C7C98}"/>
                </a:ext>
              </a:extLst>
            </p:cNvPr>
            <p:cNvSpPr/>
            <p:nvPr/>
          </p:nvSpPr>
          <p:spPr>
            <a:xfrm>
              <a:off x="1203960" y="3916233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Baseline Memory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F3A3141C-0C9C-C819-51F1-A4B03940213F}"/>
                </a:ext>
              </a:extLst>
            </p:cNvPr>
            <p:cNvSpPr/>
            <p:nvPr/>
          </p:nvSpPr>
          <p:spPr>
            <a:xfrm>
              <a:off x="3581400" y="3916233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Learns 'normal' from signed observations. No hallucinated baselines.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07535A-C67F-6C49-063C-66E59BE43FF0}"/>
              </a:ext>
            </a:extLst>
          </p:cNvPr>
          <p:cNvGrpSpPr/>
          <p:nvPr/>
        </p:nvGrpSpPr>
        <p:grpSpPr>
          <a:xfrm>
            <a:off x="609600" y="4355145"/>
            <a:ext cx="8001000" cy="365760"/>
            <a:chOff x="609600" y="4355145"/>
            <a:chExt cx="8001000" cy="365760"/>
          </a:xfrm>
        </p:grpSpPr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326D5F90-6AC0-8BD0-DEE7-9D1DD6197E18}"/>
                </a:ext>
              </a:extLst>
            </p:cNvPr>
            <p:cNvSpPr/>
            <p:nvPr/>
          </p:nvSpPr>
          <p:spPr>
            <a:xfrm>
              <a:off x="609600" y="4355145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6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15D23BEA-2294-EC4F-8420-5FEC98AA031F}"/>
                </a:ext>
              </a:extLst>
            </p:cNvPr>
            <p:cNvSpPr/>
            <p:nvPr/>
          </p:nvSpPr>
          <p:spPr>
            <a:xfrm>
              <a:off x="1203960" y="4355145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Trust Chain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FD2C1735-1A4B-1975-AF67-0F22BA5E48DB}"/>
                </a:ext>
              </a:extLst>
            </p:cNvPr>
            <p:cNvSpPr/>
            <p:nvPr/>
          </p:nvSpPr>
          <p:spPr>
            <a:xfrm>
              <a:off x="3581400" y="4355145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Append-only tamper-evident SQLite chain. Nothing deleted.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4E65989-9A62-9748-1B8B-C9F7C9E808EB}"/>
              </a:ext>
            </a:extLst>
          </p:cNvPr>
          <p:cNvGrpSpPr/>
          <p:nvPr/>
        </p:nvGrpSpPr>
        <p:grpSpPr>
          <a:xfrm>
            <a:off x="609600" y="4794057"/>
            <a:ext cx="8001000" cy="365760"/>
            <a:chOff x="609600" y="4794057"/>
            <a:chExt cx="8001000" cy="365760"/>
          </a:xfrm>
        </p:grpSpPr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2055528F-9A6D-B077-8CB3-5AA9E0B6BF23}"/>
                </a:ext>
              </a:extLst>
            </p:cNvPr>
            <p:cNvSpPr/>
            <p:nvPr/>
          </p:nvSpPr>
          <p:spPr>
            <a:xfrm>
              <a:off x="609600" y="4794057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7</a:t>
              </a:r>
              <a:endParaRPr lang="en-US" sz="1600" dirty="0">
                <a:solidFill>
                  <a:schemeClr val="accent2"/>
                </a:solidFill>
                <a:latin typeface="DM Sans 14pt" pitchFamily="2" charset="77"/>
              </a:endParaRPr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BCAEE345-92E1-ADD4-96B6-40817B38AF6E}"/>
                </a:ext>
              </a:extLst>
            </p:cNvPr>
            <p:cNvSpPr/>
            <p:nvPr/>
          </p:nvSpPr>
          <p:spPr>
            <a:xfrm>
              <a:off x="1203960" y="4794057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0F4F8"/>
                  </a:solidFill>
                  <a:latin typeface="DM Sans 14pt" pitchFamily="2" charset="77"/>
                  <a:ea typeface="Consolas" pitchFamily="34" charset="-122"/>
                  <a:cs typeface="Consolas" pitchFamily="34" charset="-120"/>
                </a:rPr>
                <a:t>Federation</a:t>
              </a:r>
              <a:endParaRPr lang="en-US" sz="1300" dirty="0">
                <a:latin typeface="DM Sans 14pt" pitchFamily="2" charset="77"/>
              </a:endParaRPr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A4535558-90CF-9B4D-AC67-57D445AF5D00}"/>
                </a:ext>
              </a:extLst>
            </p:cNvPr>
            <p:cNvSpPr/>
            <p:nvPr/>
          </p:nvSpPr>
          <p:spPr>
            <a:xfrm>
              <a:off x="3581400" y="4794057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Multi-vendor normalization across heterogeneous infrastructure.</a:t>
              </a:r>
              <a:endPara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E4D3CC-25B1-1D64-0269-CBEF9B3151C9}"/>
              </a:ext>
            </a:extLst>
          </p:cNvPr>
          <p:cNvGrpSpPr/>
          <p:nvPr/>
        </p:nvGrpSpPr>
        <p:grpSpPr>
          <a:xfrm>
            <a:off x="792480" y="2551512"/>
            <a:ext cx="7202228" cy="2181138"/>
            <a:chOff x="792480" y="2551512"/>
            <a:chExt cx="7755902" cy="218113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AD8F96-041E-930E-75FF-12D1AD6989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480" y="2551512"/>
              <a:ext cx="7755902" cy="0"/>
            </a:xfrm>
            <a:prstGeom prst="line">
              <a:avLst/>
            </a:prstGeom>
            <a:ln w="635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6C86C02-29DB-4C4F-2B67-0AA9D733E2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480" y="2996129"/>
              <a:ext cx="7755902" cy="0"/>
            </a:xfrm>
            <a:prstGeom prst="line">
              <a:avLst/>
            </a:prstGeom>
            <a:ln w="635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A6620A-9042-B926-C772-149863F1EF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480" y="3432356"/>
              <a:ext cx="7755902" cy="0"/>
            </a:xfrm>
            <a:prstGeom prst="line">
              <a:avLst/>
            </a:prstGeom>
            <a:ln w="635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299BA05-0DF6-9EED-E8DB-66EF4B5F7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480" y="3876973"/>
              <a:ext cx="7755902" cy="0"/>
            </a:xfrm>
            <a:prstGeom prst="line">
              <a:avLst/>
            </a:prstGeom>
            <a:ln w="635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EF80FE3-B43F-35A1-CA57-5B8243B609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480" y="4313200"/>
              <a:ext cx="7755902" cy="0"/>
            </a:xfrm>
            <a:prstGeom prst="line">
              <a:avLst/>
            </a:prstGeom>
            <a:ln w="635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D260523-E88B-DA05-E3E5-47336D0FD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480" y="4732650"/>
              <a:ext cx="7755902" cy="0"/>
            </a:xfrm>
            <a:prstGeom prst="line">
              <a:avLst/>
            </a:prstGeom>
            <a:ln w="635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41C3CC1-8E97-D3DC-1B19-48B702957C92}"/>
              </a:ext>
            </a:extLst>
          </p:cNvPr>
          <p:cNvSpPr txBox="1">
            <a:spLocks/>
          </p:cNvSpPr>
          <p:nvPr/>
        </p:nvSpPr>
        <p:spPr>
          <a:xfrm>
            <a:off x="438867" y="5564018"/>
            <a:ext cx="7966902" cy="27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200" dirty="0">
                <a:solidFill>
                  <a:schemeClr val="accent5"/>
                </a:solidFill>
              </a:rPr>
              <a:t>IETF draft-howard-virp-04  |  Tested on 35 Cisco IOS routers + FortiGate + Cisco 3850s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90248BA9-3B94-375C-EFF9-67D4EDE6E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3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8887-1271-2EE0-F98C-90229063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 err="1"/>
              <a:t>NetClaw</a:t>
            </a:r>
            <a:r>
              <a:rPr lang="en-US" dirty="0"/>
              <a:t> Visual HUD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05C61-E08D-F1F7-7F64-403C9320B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6070990" cy="392167"/>
          </a:xfrm>
        </p:spPr>
        <p:txBody>
          <a:bodyPr/>
          <a:lstStyle/>
          <a:p>
            <a:r>
              <a:rPr lang="en-US" sz="1800" dirty="0" err="1">
                <a:solidFill>
                  <a:schemeClr val="accent2"/>
                </a:solidFill>
              </a:rPr>
              <a:t>Three.js</a:t>
            </a:r>
            <a:r>
              <a:rPr lang="en-US" sz="1800" dirty="0">
                <a:solidFill>
                  <a:schemeClr val="accent2"/>
                </a:solidFill>
              </a:rPr>
              <a:t> 3D Network Operations Dashboard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8133F-15CC-1EDD-1D74-7382BD4005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835338"/>
            <a:ext cx="7052502" cy="1094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400" dirty="0"/>
              <a:t>Real-time 3D visualization of all MCP integrations and skills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Live device fleet monitoring and BGP peering topology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Integrated chat terminal wired to </a:t>
            </a:r>
            <a:r>
              <a:rPr lang="en-US" sz="1400" dirty="0" err="1"/>
              <a:t>OpenClaw</a:t>
            </a:r>
            <a:r>
              <a:rPr lang="en-US" sz="1400" dirty="0"/>
              <a:t> gateway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Execute tools directly from the browser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Bidirectional Slack and </a:t>
            </a:r>
            <a:r>
              <a:rPr lang="en-US" sz="1400" dirty="0" err="1"/>
              <a:t>WebEx</a:t>
            </a:r>
            <a:r>
              <a:rPr lang="en-US" sz="1400" dirty="0"/>
              <a:t> channel support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Real BGP peering - </a:t>
            </a:r>
            <a:r>
              <a:rPr lang="en-US" sz="1400" dirty="0" err="1"/>
              <a:t>NetClaws</a:t>
            </a:r>
            <a:r>
              <a:rPr lang="en-US" sz="1400" dirty="0"/>
              <a:t> route THROUGH each other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Put a </a:t>
            </a:r>
            <a:r>
              <a:rPr lang="en-US" sz="1400" dirty="0" err="1"/>
              <a:t>NetClaw</a:t>
            </a:r>
            <a:r>
              <a:rPr lang="en-US" sz="1400" dirty="0"/>
              <a:t> at every edge - one mesh, zero manual config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D6BF6-F9F8-D765-60A2-71F6111AB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8887-1271-2EE0-F98C-90229063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Real Traffic Forwarding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05C61-E08D-F1F7-7F64-403C9320B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6070990" cy="392167"/>
          </a:xfrm>
        </p:spPr>
        <p:txBody>
          <a:bodyPr/>
          <a:lstStyle/>
          <a:p>
            <a:r>
              <a:rPr lang="en-US" sz="1800" dirty="0" err="1">
                <a:solidFill>
                  <a:schemeClr val="accent2"/>
                </a:solidFill>
              </a:rPr>
              <a:t>NetClaw</a:t>
            </a:r>
            <a:r>
              <a:rPr lang="en-US" sz="1800" dirty="0">
                <a:solidFill>
                  <a:schemeClr val="accent2"/>
                </a:solidFill>
              </a:rPr>
              <a:t> Can Now Forward Real Packets</a:t>
            </a:r>
          </a:p>
          <a:p>
            <a:endParaRPr lang="en-US" sz="1800" dirty="0" err="1">
              <a:solidFill>
                <a:schemeClr val="accent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8133F-15CC-1EDD-1D74-7382BD4005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7" y="1835338"/>
            <a:ext cx="7052502" cy="1094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1400" dirty="0"/>
              <a:t>Not simulated. Real packets, real TUN devices, real kernel routes.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BGP control plane + data plane tunnel sharing a single port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Automatic tunnel lifecycle - session down = tunnel down, peer back = rebuild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Cross-platform TUN devices (Linux + macOS, same code)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Transit routing through the mesh - reach any network behind any </a:t>
            </a:r>
            <a:r>
              <a:rPr lang="en-US" sz="1400" dirty="0" err="1"/>
              <a:t>NetClaw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/>
              <a:t>Deterministic overlay addressing - both sides compute independently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Home lab, branch office, cloud VPC - every edge becomes reachable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657DFD6-708E-32D8-D2D4-18D0272D5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132" b="58647"/>
          <a:stretch>
            <a:fillRect/>
          </a:stretch>
        </p:blipFill>
        <p:spPr>
          <a:xfrm flipH="1">
            <a:off x="5935133" y="0"/>
            <a:ext cx="6256867" cy="3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26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F896-1EDB-B2A6-FA1E-EA652033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AEB7-2D9C-D9C5-16BA-3E19E104A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516"/>
          </a:xfrm>
        </p:spPr>
        <p:txBody>
          <a:bodyPr/>
          <a:lstStyle/>
          <a:p>
            <a:pPr algn="ctr"/>
            <a:r>
              <a:rPr lang="en-US" dirty="0"/>
              <a:t>Enterprise Compliance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385C65-FDA3-90C0-79E9-3A2254F83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200" y="1159796"/>
            <a:ext cx="4571600" cy="308277"/>
          </a:xfrm>
        </p:spPr>
        <p:txBody>
          <a:bodyPr/>
          <a:lstStyle/>
          <a:p>
            <a:pPr algn="ctr"/>
            <a:r>
              <a:rPr lang="en-US" dirty="0"/>
              <a:t>Audit-Ready from Day One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846E9-D1EA-62D0-0173-827368217CC1}"/>
              </a:ext>
            </a:extLst>
          </p:cNvPr>
          <p:cNvGrpSpPr/>
          <p:nvPr/>
        </p:nvGrpSpPr>
        <p:grpSpPr>
          <a:xfrm>
            <a:off x="1386980" y="1885058"/>
            <a:ext cx="2812962" cy="2571576"/>
            <a:chOff x="1386980" y="1885058"/>
            <a:chExt cx="2812962" cy="257157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F09F3CE-C273-2BC4-694A-C8FB96464984}"/>
                </a:ext>
              </a:extLst>
            </p:cNvPr>
            <p:cNvSpPr/>
            <p:nvPr/>
          </p:nvSpPr>
          <p:spPr>
            <a:xfrm>
              <a:off x="1386980" y="1885058"/>
              <a:ext cx="2812962" cy="257157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4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C7D591CA-FF07-EE3B-9D38-1E776A24BDFD}"/>
                </a:ext>
              </a:extLst>
            </p:cNvPr>
            <p:cNvSpPr txBox="1">
              <a:spLocks/>
            </p:cNvSpPr>
            <p:nvPr/>
          </p:nvSpPr>
          <p:spPr>
            <a:xfrm>
              <a:off x="1684922" y="2225397"/>
              <a:ext cx="2263350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SOC2 Type II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Audit trail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Access controls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Event monitoring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691E0-D21D-BB27-591D-8790AD39710D}"/>
              </a:ext>
            </a:extLst>
          </p:cNvPr>
          <p:cNvGrpSpPr/>
          <p:nvPr/>
        </p:nvGrpSpPr>
        <p:grpSpPr>
          <a:xfrm>
            <a:off x="4689519" y="1885058"/>
            <a:ext cx="2812962" cy="2571576"/>
            <a:chOff x="4689519" y="1885058"/>
            <a:chExt cx="2812962" cy="257157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447EDE8-7DC7-2477-B84C-3F816EAD747C}"/>
                </a:ext>
              </a:extLst>
            </p:cNvPr>
            <p:cNvSpPr/>
            <p:nvPr/>
          </p:nvSpPr>
          <p:spPr>
            <a:xfrm>
              <a:off x="4689519" y="1885058"/>
              <a:ext cx="2812962" cy="257157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22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53F6D214-C765-4476-16FF-1983D102F07D}"/>
                </a:ext>
              </a:extLst>
            </p:cNvPr>
            <p:cNvSpPr txBox="1">
              <a:spLocks/>
            </p:cNvSpPr>
            <p:nvPr/>
          </p:nvSpPr>
          <p:spPr>
            <a:xfrm>
              <a:off x="4987461" y="2225397"/>
              <a:ext cx="2263350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PCI-DSS v4.0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Anti-malware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Audit trails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Incident response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32ED64-65AF-93A9-68A6-DB93D4DFDA80}"/>
              </a:ext>
            </a:extLst>
          </p:cNvPr>
          <p:cNvGrpSpPr/>
          <p:nvPr/>
        </p:nvGrpSpPr>
        <p:grpSpPr>
          <a:xfrm>
            <a:off x="7992058" y="1885058"/>
            <a:ext cx="2812962" cy="2571576"/>
            <a:chOff x="7992058" y="1885058"/>
            <a:chExt cx="2812962" cy="2571576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BD95CD1-EC42-CF7D-7956-73A4E5C3B170}"/>
                </a:ext>
              </a:extLst>
            </p:cNvPr>
            <p:cNvSpPr/>
            <p:nvPr/>
          </p:nvSpPr>
          <p:spPr>
            <a:xfrm>
              <a:off x="7992058" y="1885058"/>
              <a:ext cx="2812962" cy="257157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044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6BDDA394-C66C-BBBD-22DB-741F23825C3C}"/>
                </a:ext>
              </a:extLst>
            </p:cNvPr>
            <p:cNvSpPr txBox="1">
              <a:spLocks/>
            </p:cNvSpPr>
            <p:nvPr/>
          </p:nvSpPr>
          <p:spPr>
            <a:xfrm>
              <a:off x="8290000" y="2225397"/>
              <a:ext cx="2263350" cy="8121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5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HIPAA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Audit controls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Data integrity</a:t>
              </a:r>
            </a:p>
            <a:p>
              <a:pPr marL="285750">
                <a:spcBef>
                  <a:spcPts val="1200"/>
                </a:spcBef>
                <a:spcAft>
                  <a:spcPts val="600"/>
                </a:spcAft>
              </a:pPr>
              <a:r>
                <a:rPr lang="en-US" sz="1400" dirty="0"/>
                <a:t>Transmission security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DE9793-21CF-8C4B-19E0-B6F1583B0B89}"/>
              </a:ext>
            </a:extLst>
          </p:cNvPr>
          <p:cNvGrpSpPr/>
          <p:nvPr/>
        </p:nvGrpSpPr>
        <p:grpSpPr>
          <a:xfrm>
            <a:off x="1386980" y="5015087"/>
            <a:ext cx="9418040" cy="683117"/>
            <a:chOff x="1386980" y="5015087"/>
            <a:chExt cx="9418040" cy="683117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9DB208A-3CD7-896D-1AD1-160C2127F4C9}"/>
                </a:ext>
              </a:extLst>
            </p:cNvPr>
            <p:cNvSpPr/>
            <p:nvPr/>
          </p:nvSpPr>
          <p:spPr>
            <a:xfrm>
              <a:off x="1386980" y="5015087"/>
              <a:ext cx="9418040" cy="683117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3E8F67-1EA4-AD26-044A-937572F262A2}"/>
                </a:ext>
              </a:extLst>
            </p:cNvPr>
            <p:cNvSpPr txBox="1"/>
            <p:nvPr/>
          </p:nvSpPr>
          <p:spPr>
            <a:xfrm>
              <a:off x="1620417" y="5215373"/>
              <a:ext cx="571171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defenseclaw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alerts --export 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&gt; audit-$(date +%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Y%m%d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).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</a:t>
              </a:r>
              <a:endPara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6441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C8D4-18E9-1602-03CE-EB7337CD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Community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E2485-84D3-4A7B-CCE1-576480CC7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200" y="1159796"/>
            <a:ext cx="4571600" cy="325055"/>
          </a:xfrm>
        </p:spPr>
        <p:txBody>
          <a:bodyPr/>
          <a:lstStyle/>
          <a:p>
            <a:pPr algn="ctr"/>
            <a:r>
              <a:rPr lang="en-US" dirty="0"/>
              <a:t>A New Generation of Agentic Networking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14E526A-B71B-F1CE-3AD7-5315E872AC3B}"/>
              </a:ext>
            </a:extLst>
          </p:cNvPr>
          <p:cNvSpPr txBox="1">
            <a:spLocks/>
          </p:cNvSpPr>
          <p:nvPr/>
        </p:nvSpPr>
        <p:spPr>
          <a:xfrm>
            <a:off x="3810200" y="2431737"/>
            <a:ext cx="2263350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Joksan Flores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Ankit Bhansali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Akshay </a:t>
            </a:r>
            <a:r>
              <a:rPr lang="en-US" sz="1400" dirty="0" err="1"/>
              <a:t>Balaganur</a:t>
            </a:r>
            <a:endParaRPr lang="en-US" sz="1400" dirty="0"/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Byrn Baker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Usama Ibnul Islam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Satyam Thakur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Aleksei </a:t>
            </a:r>
            <a:r>
              <a:rPr lang="en-US" sz="1400" dirty="0" err="1"/>
              <a:t>Chekhun</a:t>
            </a:r>
            <a:endParaRPr lang="en-US" sz="140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F1909A-D25A-8617-F4F1-9704F31A7022}"/>
              </a:ext>
            </a:extLst>
          </p:cNvPr>
          <p:cNvSpPr txBox="1">
            <a:spLocks/>
          </p:cNvSpPr>
          <p:nvPr/>
        </p:nvSpPr>
        <p:spPr>
          <a:xfrm>
            <a:off x="1914088" y="1772200"/>
            <a:ext cx="8363824" cy="32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From junior engineers to multi-CCIE operations - everyone is building with </a:t>
            </a:r>
            <a:r>
              <a:rPr lang="en-US" b="1" dirty="0" err="1">
                <a:solidFill>
                  <a:schemeClr val="accent2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NetClaw</a:t>
            </a:r>
            <a:endParaRPr lang="en-US" b="1" dirty="0">
              <a:solidFill>
                <a:schemeClr val="accent2"/>
              </a:solidFill>
              <a:latin typeface="DM Sans 14pt" pitchFamily="2" charset="77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88688E7-D683-3DB6-4E48-A0C051AB4EC7}"/>
              </a:ext>
            </a:extLst>
          </p:cNvPr>
          <p:cNvSpPr txBox="1">
            <a:spLocks/>
          </p:cNvSpPr>
          <p:nvPr/>
        </p:nvSpPr>
        <p:spPr>
          <a:xfrm>
            <a:off x="6704402" y="2431737"/>
            <a:ext cx="2263350" cy="8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Younes </a:t>
            </a:r>
            <a:r>
              <a:rPr lang="en-US" sz="1400" dirty="0" err="1"/>
              <a:t>Jellabi</a:t>
            </a:r>
            <a:endParaRPr lang="en-US" sz="1400" dirty="0"/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Dheeraj Dubey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Alex Bugheanu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Marshall Hollis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Georgi Gaydarov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5"/>
                </a:solidFill>
              </a:rPr>
              <a:t>Nathan Howard</a:t>
            </a:r>
          </a:p>
          <a:p>
            <a:pPr marL="285750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Sean Mahoney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B75ECF1-F4D2-EDA3-BEE6-AD753718750B}"/>
              </a:ext>
            </a:extLst>
          </p:cNvPr>
          <p:cNvSpPr txBox="1">
            <a:spLocks/>
          </p:cNvSpPr>
          <p:nvPr/>
        </p:nvSpPr>
        <p:spPr>
          <a:xfrm>
            <a:off x="1914088" y="5480134"/>
            <a:ext cx="8363824" cy="32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93688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accent5"/>
                </a:solidFill>
                <a:latin typeface="DM Sans 14pt" pitchFamily="2" charset="77"/>
                <a:ea typeface="Trebuchet MS" pitchFamily="34" charset="-122"/>
                <a:cs typeface="Trebuchet MS" pitchFamily="34" charset="-120"/>
              </a:rPr>
              <a:t>Nathan Howard - Creator of VIRP, the first security protocol designed specifically for AI Agents</a:t>
            </a:r>
          </a:p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/>
              </a:solidFill>
              <a:latin typeface="DM Sans 14pt" pitchFamily="2" charset="77"/>
              <a:ea typeface="Trebuchet MS" pitchFamily="34" charset="-122"/>
              <a:cs typeface="Trebuchet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897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59F19F-98E3-2B85-406B-664CF62ECFE7}"/>
              </a:ext>
            </a:extLst>
          </p:cNvPr>
          <p:cNvSpPr/>
          <p:nvPr/>
        </p:nvSpPr>
        <p:spPr>
          <a:xfrm>
            <a:off x="9630561" y="6316910"/>
            <a:ext cx="2290195" cy="3858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BC9C7-4FB3-5C68-9985-1296962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Get Started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263E47-45CA-1E59-62CF-E7D798A9B584}"/>
              </a:ext>
            </a:extLst>
          </p:cNvPr>
          <p:cNvSpPr/>
          <p:nvPr/>
        </p:nvSpPr>
        <p:spPr>
          <a:xfrm>
            <a:off x="438867" y="1281987"/>
            <a:ext cx="6406550" cy="1444435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rgbClr val="000000"/>
              </a:gs>
              <a:gs pos="100000">
                <a:srgbClr val="1E1E1E"/>
              </a:gs>
            </a:gsLst>
            <a:lin ang="2700000" scaled="1"/>
          </a:gradFill>
          <a:ln w="3175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D3DDE-9916-8F58-E030-903291BD1EE5}"/>
              </a:ext>
            </a:extLst>
          </p:cNvPr>
          <p:cNvSpPr txBox="1"/>
          <p:nvPr/>
        </p:nvSpPr>
        <p:spPr>
          <a:xfrm>
            <a:off x="672304" y="1482273"/>
            <a:ext cx="57117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automateyournetwork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netclaw.git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netclaw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./scripts/</a:t>
            </a:r>
            <a:r>
              <a:rPr lang="en-US" sz="1200" dirty="0" err="1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install.sh</a:t>
            </a: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accent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CCIE-level AI network engineer is ready.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6AE26F-A994-6DEE-1C22-6AC6D9154179}"/>
              </a:ext>
            </a:extLst>
          </p:cNvPr>
          <p:cNvSpPr/>
          <p:nvPr/>
        </p:nvSpPr>
        <p:spPr>
          <a:xfrm>
            <a:off x="438867" y="3114894"/>
            <a:ext cx="3749040" cy="2286000"/>
          </a:xfrm>
          <a:prstGeom prst="roundRect">
            <a:avLst>
              <a:gd name="adj" fmla="val 3089"/>
            </a:avLst>
          </a:prstGeom>
          <a:gradFill>
            <a:gsLst>
              <a:gs pos="14000">
                <a:schemeClr val="accent1">
                  <a:alpha val="13247"/>
                </a:schemeClr>
              </a:gs>
              <a:gs pos="100000">
                <a:schemeClr val="tx1">
                  <a:alpha val="0"/>
                </a:schemeClr>
              </a:gs>
            </a:gsLst>
            <a:lin ang="2700000" scaled="1"/>
          </a:gradFill>
          <a:ln w="3175">
            <a:solidFill>
              <a:schemeClr val="bg1">
                <a:alpha val="25000"/>
              </a:schemeClr>
            </a:solidFill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6352A421-3AAE-74D2-784F-80DCCD2216B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713187" y="3343432"/>
            <a:ext cx="352215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134ED1E7-FA43-6D2C-ECD8-18BD73A7EF1B}"/>
              </a:ext>
            </a:extLst>
          </p:cNvPr>
          <p:cNvSpPr/>
          <p:nvPr/>
        </p:nvSpPr>
        <p:spPr>
          <a:xfrm>
            <a:off x="1170387" y="329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D61EF89-AD2C-EEDA-EDEA-11BC68A2AD4E}"/>
              </a:ext>
            </a:extLst>
          </p:cNvPr>
          <p:cNvSpPr/>
          <p:nvPr/>
        </p:nvSpPr>
        <p:spPr>
          <a:xfrm>
            <a:off x="713187" y="389207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github.com/automateyournetwork/netclaw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github.com/openclaw/openclaw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github.com/nhowardtli/virp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automateyournetwork.ca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Ops Forum on Slack</a:t>
            </a:r>
            <a:endParaRPr lang="en-US" sz="12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C59ADEA-BA1A-E3D6-5638-05134D693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38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CE87F6-6057-7F02-279E-4186563E8D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47" t="21306" r="24950" b="20303"/>
          <a:stretch>
            <a:fillRect/>
          </a:stretch>
        </p:blipFill>
        <p:spPr>
          <a:xfrm>
            <a:off x="4651366" y="636265"/>
            <a:ext cx="2889268" cy="335384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BB42C6B-58FA-A82A-D687-622D973B7AAF}"/>
              </a:ext>
            </a:extLst>
          </p:cNvPr>
          <p:cNvGrpSpPr/>
          <p:nvPr/>
        </p:nvGrpSpPr>
        <p:grpSpPr>
          <a:xfrm>
            <a:off x="2573482" y="4283509"/>
            <a:ext cx="7245927" cy="1707120"/>
            <a:chOff x="3737264" y="4553672"/>
            <a:chExt cx="7245927" cy="1707120"/>
          </a:xfrm>
        </p:grpSpPr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4162ADFD-8B0C-5CA3-FBE7-07E91ADA5A35}"/>
                </a:ext>
              </a:extLst>
            </p:cNvPr>
            <p:cNvSpPr txBox="1">
              <a:spLocks/>
            </p:cNvSpPr>
            <p:nvPr/>
          </p:nvSpPr>
          <p:spPr>
            <a:xfrm>
              <a:off x="5448300" y="4553672"/>
              <a:ext cx="5534891" cy="811212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6600">
                  <a:solidFill>
                    <a:schemeClr val="bg1"/>
                  </a:solidFill>
                  <a:latin typeface="Bebas Neue" panose="020B0606020202050201" pitchFamily="34" charset="77"/>
                </a:rPr>
                <a:t>Download Netclaw</a:t>
              </a:r>
              <a:endParaRPr lang="en-US" sz="6600" dirty="0">
                <a:solidFill>
                  <a:schemeClr val="bg1"/>
                </a:solidFill>
                <a:latin typeface="Bebas Neue" panose="020B0606020202050201" pitchFamily="34" charset="77"/>
              </a:endParaRPr>
            </a:p>
          </p:txBody>
        </p:sp>
        <p:sp>
          <p:nvSpPr>
            <p:cNvPr id="9" name="Text Placeholder 2">
              <a:extLst>
                <a:ext uri="{FF2B5EF4-FFF2-40B4-BE49-F238E27FC236}">
                  <a16:creationId xmlns:a16="http://schemas.microsoft.com/office/drawing/2014/main" id="{5A12E20A-9881-CEEA-7B9F-02863A761922}"/>
                </a:ext>
              </a:extLst>
            </p:cNvPr>
            <p:cNvSpPr txBox="1">
              <a:spLocks/>
            </p:cNvSpPr>
            <p:nvPr/>
          </p:nvSpPr>
          <p:spPr>
            <a:xfrm>
              <a:off x="5448300" y="5503286"/>
              <a:ext cx="4572000" cy="222250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1E"/>
                </a:buClr>
                <a:buFont typeface="Arial"/>
                <a:defRPr sz="1867" b="0" i="0" u="none" strike="noStrike" cap="none">
                  <a:solidFill>
                    <a:srgbClr val="00001E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</a:rPr>
                <a:t>github.com/automateyournetwork/netclaw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4C23EFC-2D3B-F961-36B1-C97F8F7AAF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37264" y="4553672"/>
              <a:ext cx="1510145" cy="1707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4275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AF1E089-E1F3-1847-63B6-7B5ADEE45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936" y="1370546"/>
            <a:ext cx="3824868" cy="1004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6C3860-2503-AAB6-D9F9-C380BE3A1B0F}"/>
              </a:ext>
            </a:extLst>
          </p:cNvPr>
          <p:cNvSpPr txBox="1"/>
          <p:nvPr/>
        </p:nvSpPr>
        <p:spPr>
          <a:xfrm>
            <a:off x="1248936" y="2676292"/>
            <a:ext cx="5999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All the presentations from the </a:t>
            </a:r>
            <a:r>
              <a:rPr lang="en-US" sz="3600" b="1" dirty="0" err="1">
                <a:solidFill>
                  <a:schemeClr val="bg1"/>
                </a:solidFill>
                <a:latin typeface="DM Sans 14pt SemiBold" pitchFamily="2" charset="77"/>
              </a:rPr>
              <a:t>VibeOps</a:t>
            </a:r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 Lounge are available on GitHub.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49754-3001-C8B8-6295-066E536EA989}"/>
              </a:ext>
            </a:extLst>
          </p:cNvPr>
          <p:cNvSpPr txBox="1"/>
          <p:nvPr/>
        </p:nvSpPr>
        <p:spPr>
          <a:xfrm>
            <a:off x="1248936" y="4928839"/>
            <a:ext cx="720581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github.com</a:t>
            </a:r>
            <a:r>
              <a:rPr lang="en-US" dirty="0">
                <a:solidFill>
                  <a:schemeClr val="accent2"/>
                </a:solidFill>
              </a:rPr>
              <a:t>/automateyournetwork/CiscoLive2026_VibeOpsLounge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0CE696-7CAA-A203-ED57-E21A8761E25B}"/>
              </a:ext>
            </a:extLst>
          </p:cNvPr>
          <p:cNvGrpSpPr/>
          <p:nvPr/>
        </p:nvGrpSpPr>
        <p:grpSpPr>
          <a:xfrm>
            <a:off x="7944030" y="-24233"/>
            <a:ext cx="4247970" cy="6906466"/>
            <a:chOff x="7944030" y="-24233"/>
            <a:chExt cx="4247970" cy="6906466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09BA482-4213-B0E8-A092-BDAAD412DF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2569" b="53251"/>
            <a:stretch>
              <a:fillRect/>
            </a:stretch>
          </p:blipFill>
          <p:spPr>
            <a:xfrm rot="16200000">
              <a:off x="6892326" y="1582559"/>
              <a:ext cx="6906466" cy="369288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2D6303E-4733-1FA9-04C8-0BF9A427C3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44030" y="1549505"/>
              <a:ext cx="2882069" cy="3237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113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Itential 2025">
      <a:dk1>
        <a:srgbClr val="00001E"/>
      </a:dk1>
      <a:lt1>
        <a:srgbClr val="FFFFFF"/>
      </a:lt1>
      <a:dk2>
        <a:srgbClr val="00001E"/>
      </a:dk2>
      <a:lt2>
        <a:srgbClr val="FFFFFF"/>
      </a:lt2>
      <a:accent1>
        <a:srgbClr val="0099FF"/>
      </a:accent1>
      <a:accent2>
        <a:srgbClr val="FF0095"/>
      </a:accent2>
      <a:accent3>
        <a:srgbClr val="00001E"/>
      </a:accent3>
      <a:accent4>
        <a:srgbClr val="E8EDF2"/>
      </a:accent4>
      <a:accent5>
        <a:srgbClr val="0099FF"/>
      </a:accent5>
      <a:accent6>
        <a:srgbClr val="F0F4F8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8143</TotalTime>
  <Words>1909</Words>
  <Application>Microsoft Macintosh PowerPoint</Application>
  <PresentationFormat>Widescreen</PresentationFormat>
  <Paragraphs>402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5" baseType="lpstr">
      <vt:lpstr>DM Sans 14pt SemiBold</vt:lpstr>
      <vt:lpstr>Inter</vt:lpstr>
      <vt:lpstr>Consolas</vt:lpstr>
      <vt:lpstr>JetBrains Mono</vt:lpstr>
      <vt:lpstr>Open Sans Light</vt:lpstr>
      <vt:lpstr>Arial</vt:lpstr>
      <vt:lpstr>DM Sans</vt:lpstr>
      <vt:lpstr>JetBrains Mono Medium</vt:lpstr>
      <vt:lpstr>Open Sans Extrabold</vt:lpstr>
      <vt:lpstr>JetBrains Mono SemiBold</vt:lpstr>
      <vt:lpstr>Open Sans</vt:lpstr>
      <vt:lpstr>Bebas Neue</vt:lpstr>
      <vt:lpstr>Inter SemiBold</vt:lpstr>
      <vt:lpstr>Calibri</vt:lpstr>
      <vt:lpstr>DM Sans 14pt</vt:lpstr>
      <vt:lpstr>Inter Medium</vt:lpstr>
      <vt:lpstr>JetBrains Mono ExtraBold</vt:lpstr>
      <vt:lpstr>1_Itential</vt:lpstr>
      <vt:lpstr>NETCLAW</vt:lpstr>
      <vt:lpstr>The Journey</vt:lpstr>
      <vt:lpstr>What is OpenClaw?</vt:lpstr>
      <vt:lpstr>OpenClaw Changed Everything</vt:lpstr>
      <vt:lpstr>OpenClaw's Security Crisis</vt:lpstr>
      <vt:lpstr>Enter NetClaw</vt:lpstr>
      <vt:lpstr>Three-Tier Architecture</vt:lpstr>
      <vt:lpstr>LLM Configuration</vt:lpstr>
      <vt:lpstr>Communication Channels</vt:lpstr>
      <vt:lpstr>NetClaw Skills</vt:lpstr>
      <vt:lpstr>NetClaw Skills</vt:lpstr>
      <vt:lpstr>MCP Integrations</vt:lpstr>
      <vt:lpstr>Installation</vt:lpstr>
      <vt:lpstr>pyATS Testbed</vt:lpstr>
      <vt:lpstr>OpenShell</vt:lpstr>
      <vt:lpstr>DefenseClaw</vt:lpstr>
      <vt:lpstr>DefenseClaw Security Modes</vt:lpstr>
      <vt:lpstr>3-Ring Defense Architecture</vt:lpstr>
      <vt:lpstr>The 12 Non-Negotiable Rules</vt:lpstr>
      <vt:lpstr>VIRP Protocol</vt:lpstr>
      <vt:lpstr>NetClaw Visual HUD</vt:lpstr>
      <vt:lpstr>Real Traffic Forwarding</vt:lpstr>
      <vt:lpstr>Enterprise Compliance</vt:lpstr>
      <vt:lpstr>The Community</vt:lpstr>
      <vt:lpstr>Get Started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Burgwald</cp:lastModifiedBy>
  <cp:revision>63</cp:revision>
  <dcterms:modified xsi:type="dcterms:W3CDTF">2026-05-27T16:09:32Z</dcterms:modified>
</cp:coreProperties>
</file>