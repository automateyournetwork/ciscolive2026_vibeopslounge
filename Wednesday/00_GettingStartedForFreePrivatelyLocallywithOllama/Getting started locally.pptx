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  <p:sldMasterId id="2147483828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147473425" r:id="rId11"/>
    <p:sldId id="2147473427" r:id="rId12"/>
    <p:sldId id="2147473426" r:id="rId13"/>
    <p:sldId id="2147473428" r:id="rId14"/>
    <p:sldId id="2147473429" r:id="rId15"/>
    <p:sldId id="2147473430" r:id="rId16"/>
    <p:sldId id="2147473432" r:id="rId17"/>
    <p:sldId id="2147473433" r:id="rId18"/>
    <p:sldId id="2147473434" r:id="rId19"/>
    <p:sldId id="2147473435" r:id="rId20"/>
    <p:sldId id="2147473436" r:id="rId21"/>
    <p:sldId id="2147473437" r:id="rId22"/>
    <p:sldId id="2147473438" r:id="rId23"/>
    <p:sldId id="2147473431" r:id="rId24"/>
    <p:sldId id="2147473440" r:id="rId25"/>
    <p:sldId id="2147473441" r:id="rId26"/>
    <p:sldId id="2147473439" r:id="rId27"/>
    <p:sldId id="2147473442" r:id="rId28"/>
    <p:sldId id="2147473444" r:id="rId29"/>
    <p:sldId id="2147473443" r:id="rId30"/>
    <p:sldId id="2147473445" r:id="rId31"/>
    <p:sldId id="2147473446" r:id="rId32"/>
  </p:sldIdLst>
  <p:sldSz cx="12192000" cy="6858000"/>
  <p:notesSz cx="6858000" cy="9144000"/>
  <p:embeddedFontLst>
    <p:embeddedFont>
      <p:font typeface="Bebas Neue" panose="020B0606020202050201" pitchFamily="34" charset="77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DM Sans" pitchFamily="2" charset="77"/>
      <p:regular r:id="rId39"/>
      <p:bold r:id="rId40"/>
      <p:italic r:id="rId41"/>
      <p:boldItalic r:id="rId42"/>
    </p:embeddedFont>
    <p:embeddedFont>
      <p:font typeface="DM Sans 14pt" pitchFamily="2" charset="77"/>
      <p:regular r:id="rId43"/>
      <p:bold r:id="rId44"/>
      <p:italic r:id="rId45"/>
      <p:boldItalic r:id="rId46"/>
    </p:embeddedFont>
    <p:embeddedFont>
      <p:font typeface="Inter" panose="02000503000000020004" pitchFamily="2" charset="0"/>
      <p:regular r:id="rId47"/>
      <p:bold r:id="rId48"/>
      <p:italic r:id="rId49"/>
      <p:boldItalic r:id="rId50"/>
    </p:embeddedFont>
    <p:embeddedFont>
      <p:font typeface="Inter Medium" panose="02000503000000020004" pitchFamily="2" charset="0"/>
      <p:regular r:id="rId51"/>
      <p:bold r:id="rId52"/>
      <p:italic r:id="rId53"/>
      <p:boldItalic r:id="rId54"/>
    </p:embeddedFont>
    <p:embeddedFont>
      <p:font typeface="Inter SemiBold" panose="02000503000000020004" pitchFamily="2" charset="0"/>
      <p:regular r:id="rId55"/>
      <p:bold r:id="rId56"/>
      <p:italic r:id="rId57"/>
      <p:boldItalic r:id="rId58"/>
    </p:embeddedFont>
    <p:embeddedFont>
      <p:font typeface="JetBrains Mono" panose="02000009000000000000" pitchFamily="49" charset="0"/>
      <p:regular r:id="rId59"/>
      <p:bold r:id="rId60"/>
      <p:italic r:id="rId61"/>
      <p:boldItalic r:id="rId62"/>
    </p:embeddedFont>
    <p:embeddedFont>
      <p:font typeface="JetBrains Mono ExtraBold" panose="02000009000000000000" pitchFamily="49" charset="0"/>
      <p:bold r:id="rId63"/>
      <p:italic r:id="rId64"/>
      <p:boldItalic r:id="rId65"/>
    </p:embeddedFont>
    <p:embeddedFont>
      <p:font typeface="JetBrains Mono Medium" panose="02000009000000000000" pitchFamily="49" charset="0"/>
      <p:regular r:id="rId66"/>
      <p:bold r:id="rId67"/>
      <p:italic r:id="rId68"/>
      <p:boldItalic r:id="rId69"/>
    </p:embeddedFont>
    <p:embeddedFont>
      <p:font typeface="JetBrains Mono SemiBold" panose="02000009000000000000" pitchFamily="49" charset="0"/>
      <p:regular r:id="rId70"/>
      <p:bold r:id="rId71"/>
      <p:italic r:id="rId72"/>
      <p:boldItalic r:id="rId73"/>
    </p:embeddedFont>
    <p:embeddedFont>
      <p:font typeface="Open Sans" panose="020B0606030504020204" pitchFamily="34" charset="0"/>
      <p:regular r:id="rId74"/>
      <p:bold r:id="rId75"/>
      <p:italic r:id="rId76"/>
      <p:boldItalic r:id="rId77"/>
    </p:embeddedFont>
    <p:embeddedFont>
      <p:font typeface="Open Sans Extrabold" panose="020B0606030504020204" pitchFamily="34" charset="0"/>
      <p:bold r:id="rId78"/>
      <p:italic r:id="rId79"/>
      <p:boldItalic r:id="rId80"/>
    </p:embeddedFont>
    <p:embeddedFont>
      <p:font typeface="Open Sans Light" panose="020B0306030504020204" pitchFamily="34" charset="0"/>
      <p:regular r:id="rId81"/>
      <p:italic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1EC180-500D-4391-9AB7-3260FDF59E6C}">
  <a:tblStyle styleId="{C21EC180-500D-4391-9AB7-3260FDF59E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/>
    <p:restoredTop sz="96301"/>
  </p:normalViewPr>
  <p:slideViewPr>
    <p:cSldViewPr snapToGrid="0">
      <p:cViewPr varScale="1">
        <p:scale>
          <a:sx n="161" d="100"/>
          <a:sy n="161" d="100"/>
        </p:scale>
        <p:origin x="24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63" Type="http://schemas.openxmlformats.org/officeDocument/2006/relationships/font" Target="fonts/font30.fntdata"/><Relationship Id="rId68" Type="http://schemas.openxmlformats.org/officeDocument/2006/relationships/font" Target="fonts/font35.fntdata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74" Type="http://schemas.openxmlformats.org/officeDocument/2006/relationships/font" Target="fonts/font41.fntdata"/><Relationship Id="rId79" Type="http://schemas.openxmlformats.org/officeDocument/2006/relationships/font" Target="fonts/font46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64" Type="http://schemas.openxmlformats.org/officeDocument/2006/relationships/font" Target="fonts/font31.fntdata"/><Relationship Id="rId69" Type="http://schemas.openxmlformats.org/officeDocument/2006/relationships/font" Target="fonts/font36.fntdata"/><Relationship Id="rId77" Type="http://schemas.openxmlformats.org/officeDocument/2006/relationships/font" Target="fonts/font44.fntdata"/><Relationship Id="rId8" Type="http://schemas.openxmlformats.org/officeDocument/2006/relationships/slide" Target="slides/slide6.xml"/><Relationship Id="rId51" Type="http://schemas.openxmlformats.org/officeDocument/2006/relationships/font" Target="fonts/font18.fntdata"/><Relationship Id="rId72" Type="http://schemas.openxmlformats.org/officeDocument/2006/relationships/font" Target="fonts/font39.fntdata"/><Relationship Id="rId80" Type="http://schemas.openxmlformats.org/officeDocument/2006/relationships/font" Target="fonts/font47.fntdata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font" Target="fonts/font26.fntdata"/><Relationship Id="rId67" Type="http://schemas.openxmlformats.org/officeDocument/2006/relationships/font" Target="fonts/font34.fntdata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font" Target="fonts/font29.fntdata"/><Relationship Id="rId70" Type="http://schemas.openxmlformats.org/officeDocument/2006/relationships/font" Target="fonts/font37.fntdata"/><Relationship Id="rId75" Type="http://schemas.openxmlformats.org/officeDocument/2006/relationships/font" Target="fonts/font42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font" Target="fonts/font27.fntdata"/><Relationship Id="rId65" Type="http://schemas.openxmlformats.org/officeDocument/2006/relationships/font" Target="fonts/font32.fntdata"/><Relationship Id="rId73" Type="http://schemas.openxmlformats.org/officeDocument/2006/relationships/font" Target="fonts/font40.fntdata"/><Relationship Id="rId78" Type="http://schemas.openxmlformats.org/officeDocument/2006/relationships/font" Target="fonts/font45.fntdata"/><Relationship Id="rId81" Type="http://schemas.openxmlformats.org/officeDocument/2006/relationships/font" Target="fonts/font48.fntdata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font" Target="fonts/font6.fntdata"/><Relationship Id="rId34" Type="http://schemas.openxmlformats.org/officeDocument/2006/relationships/font" Target="fonts/font1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76" Type="http://schemas.openxmlformats.org/officeDocument/2006/relationships/font" Target="fonts/font43.fntdata"/><Relationship Id="rId7" Type="http://schemas.openxmlformats.org/officeDocument/2006/relationships/slide" Target="slides/slide5.xml"/><Relationship Id="rId71" Type="http://schemas.openxmlformats.org/officeDocument/2006/relationships/font" Target="fonts/font38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66" Type="http://schemas.openxmlformats.org/officeDocument/2006/relationships/font" Target="fonts/font33.fntdata"/><Relationship Id="rId61" Type="http://schemas.openxmlformats.org/officeDocument/2006/relationships/font" Target="fonts/font28.fntdata"/><Relationship Id="rId82" Type="http://schemas.openxmlformats.org/officeDocument/2006/relationships/font" Target="fonts/font4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Navy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Navy-Grid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Navy Grid Pink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85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Navy-BottomGrid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01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SpeakerSlide02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SpeakerSlide03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SpeakerSlide04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SpeakerSlide05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InnerTitleSlide_Navy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InnerTitleSlide_Whit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5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-Navy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17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Quarter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0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Half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3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-Navy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-White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0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-Alt-Navy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84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TitleOnly-NavyWhi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White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Navy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0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2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HalfSplit-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20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-NavyWhit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 Bar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145614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White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94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5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-Whit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2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-Navy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4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-Whi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-Navy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0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-White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03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-Navy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13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-Whit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75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-Navy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13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-Navy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61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-White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0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Half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2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1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246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26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540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-Whit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0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-Navy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68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32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-Whit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14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-Navy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51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6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F0095"/>
          </p15:clr>
        </p15:guide>
        <p15:guide id="2" orient="horz" pos="959" userDrawn="1">
          <p15:clr>
            <a:srgbClr val="FF0095"/>
          </p15:clr>
        </p15:guide>
        <p15:guide id="3" orient="horz" pos="1199" userDrawn="1">
          <p15:clr>
            <a:srgbClr val="FF0095"/>
          </p15:clr>
        </p15:guide>
        <p15:guide id="4" orient="horz" pos="1440" userDrawn="1">
          <p15:clr>
            <a:srgbClr val="FF0095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Blank-Gradient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8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Blank-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5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8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966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-Whit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93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-Navy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16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86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-White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7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-Navy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67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-White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64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-Navy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564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-White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83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-Navy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1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White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2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Navy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370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White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039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Navy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626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5Box Grid BG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348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Bento-GridBG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89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Grid Callout Slide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03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Navy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7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Whit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773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0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73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Navy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241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-White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801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Navy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3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522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-White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937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-Navy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27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855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grid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805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439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74791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Blue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6369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Black 1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2748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Blue2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6077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Black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676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_Blue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4038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Custom Layout 1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4991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05_SpeakerSlide_Gray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9959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05_SpeakerSlide_4Speakers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986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05_SpeakerSlide_6Speakers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8178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TitleSlide_LightBlue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7550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TitleSlide_LightBlu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8395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33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Spli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19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5_Text-heavy Spli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05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7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7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2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4944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4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08_GraphSlid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1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08_GraphSlide2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79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9_GraphSlide2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2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35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2Spli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8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>
          <p15:clr>
            <a:schemeClr val="accent6"/>
          </p15:clr>
        </p15:guide>
        <p15:guide id="2" pos="4323">
          <p15:clr>
            <a:schemeClr val="accent6"/>
          </p15:clr>
        </p15:guide>
        <p15:guide id="3" pos="721">
          <p15:clr>
            <a:schemeClr val="accent6"/>
          </p15:clr>
        </p15:guide>
        <p15:guide id="4" pos="6959">
          <p15:clr>
            <a:schemeClr val="accent6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9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>
          <p15:clr>
            <a:schemeClr val="accent6"/>
          </p15:clr>
        </p15:guide>
        <p15:guide id="2" pos="4323">
          <p15:clr>
            <a:schemeClr val="accent6"/>
          </p15:clr>
        </p15:guide>
        <p15:guide id="3" pos="721">
          <p15:clr>
            <a:schemeClr val="accent6"/>
          </p15:clr>
        </p15:guide>
        <p15:guide id="4" pos="6959">
          <p15:clr>
            <a:schemeClr val="accent6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00_Blank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258952587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1_Blank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575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2_Blank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621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650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5328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020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3401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4462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4220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5439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452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4682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2430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6209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7508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7264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2514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4742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5436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5680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5694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1827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7385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68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F0095"/>
          </p15:clr>
        </p15:guide>
        <p15:guide id="2" orient="horz" pos="959">
          <p15:clr>
            <a:srgbClr val="FF0095"/>
          </p15:clr>
        </p15:guide>
        <p15:guide id="3" orient="horz" pos="1199">
          <p15:clr>
            <a:srgbClr val="FF0095"/>
          </p15:clr>
        </p15:guide>
        <p15:guide id="4" orient="horz" pos="1440">
          <p15:clr>
            <a:srgbClr val="FF0095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00_Blank_Black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127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00_Blank_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17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7434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7827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1863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8065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1137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4430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3956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 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1452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 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5557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6045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2869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Custom Layout 7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18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1_Custom Layout 7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3466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5300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5_Text-heavy 2 columns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091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Custom Layout 3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3883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Custom Layout 2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0287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Custom Layout 5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0165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Black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300250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Blu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19875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03057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8677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Black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8040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5560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Dark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3819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30162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9361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 Dark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0366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8628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1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2929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9792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1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20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2423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1.xml"/><Relationship Id="rId21" Type="http://schemas.openxmlformats.org/officeDocument/2006/relationships/slideLayout" Target="../slideLayouts/slideLayout106.xml"/><Relationship Id="rId42" Type="http://schemas.openxmlformats.org/officeDocument/2006/relationships/slideLayout" Target="../slideLayouts/slideLayout127.xml"/><Relationship Id="rId47" Type="http://schemas.openxmlformats.org/officeDocument/2006/relationships/slideLayout" Target="../slideLayouts/slideLayout132.xml"/><Relationship Id="rId63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53.xml"/><Relationship Id="rId84" Type="http://schemas.openxmlformats.org/officeDocument/2006/relationships/slideLayout" Target="../slideLayouts/slideLayout169.xml"/><Relationship Id="rId1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17.xml"/><Relationship Id="rId37" Type="http://schemas.openxmlformats.org/officeDocument/2006/relationships/slideLayout" Target="../slideLayouts/slideLayout122.xml"/><Relationship Id="rId53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43.xml"/><Relationship Id="rId74" Type="http://schemas.openxmlformats.org/officeDocument/2006/relationships/slideLayout" Target="../slideLayouts/slideLayout159.xml"/><Relationship Id="rId79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12.xml"/><Relationship Id="rId30" Type="http://schemas.openxmlformats.org/officeDocument/2006/relationships/slideLayout" Target="../slideLayouts/slideLayout115.xml"/><Relationship Id="rId35" Type="http://schemas.openxmlformats.org/officeDocument/2006/relationships/slideLayout" Target="../slideLayouts/slideLayout120.xml"/><Relationship Id="rId43" Type="http://schemas.openxmlformats.org/officeDocument/2006/relationships/slideLayout" Target="../slideLayouts/slideLayout128.xml"/><Relationship Id="rId48" Type="http://schemas.openxmlformats.org/officeDocument/2006/relationships/slideLayout" Target="../slideLayouts/slideLayout133.xml"/><Relationship Id="rId56" Type="http://schemas.openxmlformats.org/officeDocument/2006/relationships/slideLayout" Target="../slideLayouts/slideLayout141.xml"/><Relationship Id="rId64" Type="http://schemas.openxmlformats.org/officeDocument/2006/relationships/slideLayout" Target="../slideLayouts/slideLayout149.xml"/><Relationship Id="rId69" Type="http://schemas.openxmlformats.org/officeDocument/2006/relationships/slideLayout" Target="../slideLayouts/slideLayout154.xml"/><Relationship Id="rId7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93.xml"/><Relationship Id="rId51" Type="http://schemas.openxmlformats.org/officeDocument/2006/relationships/slideLayout" Target="../slideLayouts/slideLayout136.xml"/><Relationship Id="rId72" Type="http://schemas.openxmlformats.org/officeDocument/2006/relationships/slideLayout" Target="../slideLayouts/slideLayout157.xml"/><Relationship Id="rId80" Type="http://schemas.openxmlformats.org/officeDocument/2006/relationships/slideLayout" Target="../slideLayouts/slideLayout165.xml"/><Relationship Id="rId85" Type="http://schemas.openxmlformats.org/officeDocument/2006/relationships/slideLayout" Target="../slideLayouts/slideLayout170.xml"/><Relationship Id="rId3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5" Type="http://schemas.openxmlformats.org/officeDocument/2006/relationships/slideLayout" Target="../slideLayouts/slideLayout110.xml"/><Relationship Id="rId33" Type="http://schemas.openxmlformats.org/officeDocument/2006/relationships/slideLayout" Target="../slideLayouts/slideLayout118.xml"/><Relationship Id="rId38" Type="http://schemas.openxmlformats.org/officeDocument/2006/relationships/slideLayout" Target="../slideLayouts/slideLayout123.xml"/><Relationship Id="rId46" Type="http://schemas.openxmlformats.org/officeDocument/2006/relationships/slideLayout" Target="../slideLayouts/slideLayout131.xml"/><Relationship Id="rId59" Type="http://schemas.openxmlformats.org/officeDocument/2006/relationships/slideLayout" Target="../slideLayouts/slideLayout144.xml"/><Relationship Id="rId67" Type="http://schemas.openxmlformats.org/officeDocument/2006/relationships/slideLayout" Target="../slideLayouts/slideLayout152.xml"/><Relationship Id="rId20" Type="http://schemas.openxmlformats.org/officeDocument/2006/relationships/slideLayout" Target="../slideLayouts/slideLayout105.xml"/><Relationship Id="rId41" Type="http://schemas.openxmlformats.org/officeDocument/2006/relationships/slideLayout" Target="../slideLayouts/slideLayout126.xml"/><Relationship Id="rId54" Type="http://schemas.openxmlformats.org/officeDocument/2006/relationships/slideLayout" Target="../slideLayouts/slideLayout139.xml"/><Relationship Id="rId62" Type="http://schemas.openxmlformats.org/officeDocument/2006/relationships/slideLayout" Target="../slideLayouts/slideLayout147.xml"/><Relationship Id="rId70" Type="http://schemas.openxmlformats.org/officeDocument/2006/relationships/slideLayout" Target="../slideLayouts/slideLayout155.xml"/><Relationship Id="rId75" Type="http://schemas.openxmlformats.org/officeDocument/2006/relationships/slideLayout" Target="../slideLayouts/slideLayout160.xml"/><Relationship Id="rId83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0.xml"/><Relationship Id="rId23" Type="http://schemas.openxmlformats.org/officeDocument/2006/relationships/slideLayout" Target="../slideLayouts/slideLayout108.xml"/><Relationship Id="rId28" Type="http://schemas.openxmlformats.org/officeDocument/2006/relationships/slideLayout" Target="../slideLayouts/slideLayout113.xml"/><Relationship Id="rId36" Type="http://schemas.openxmlformats.org/officeDocument/2006/relationships/slideLayout" Target="../slideLayouts/slideLayout121.xml"/><Relationship Id="rId49" Type="http://schemas.openxmlformats.org/officeDocument/2006/relationships/slideLayout" Target="../slideLayouts/slideLayout134.xml"/><Relationship Id="rId57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95.xml"/><Relationship Id="rId31" Type="http://schemas.openxmlformats.org/officeDocument/2006/relationships/slideLayout" Target="../slideLayouts/slideLayout116.xml"/><Relationship Id="rId44" Type="http://schemas.openxmlformats.org/officeDocument/2006/relationships/slideLayout" Target="../slideLayouts/slideLayout129.xml"/><Relationship Id="rId52" Type="http://schemas.openxmlformats.org/officeDocument/2006/relationships/slideLayout" Target="../slideLayouts/slideLayout137.xml"/><Relationship Id="rId60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50.xml"/><Relationship Id="rId73" Type="http://schemas.openxmlformats.org/officeDocument/2006/relationships/slideLayout" Target="../slideLayouts/slideLayout158.xml"/><Relationship Id="rId78" Type="http://schemas.openxmlformats.org/officeDocument/2006/relationships/slideLayout" Target="../slideLayouts/slideLayout163.xml"/><Relationship Id="rId81" Type="http://schemas.openxmlformats.org/officeDocument/2006/relationships/slideLayout" Target="../slideLayouts/slideLayout166.xml"/><Relationship Id="rId86" Type="http://schemas.openxmlformats.org/officeDocument/2006/relationships/theme" Target="../theme/theme2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103.xml"/><Relationship Id="rId39" Type="http://schemas.openxmlformats.org/officeDocument/2006/relationships/slideLayout" Target="../slideLayouts/slideLayout124.xml"/><Relationship Id="rId34" Type="http://schemas.openxmlformats.org/officeDocument/2006/relationships/slideLayout" Target="../slideLayouts/slideLayout119.xml"/><Relationship Id="rId50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40.xml"/><Relationship Id="rId7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92.xml"/><Relationship Id="rId71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114.xml"/><Relationship Id="rId24" Type="http://schemas.openxmlformats.org/officeDocument/2006/relationships/slideLayout" Target="../slideLayouts/slideLayout109.xml"/><Relationship Id="rId40" Type="http://schemas.openxmlformats.org/officeDocument/2006/relationships/slideLayout" Target="../slideLayouts/slideLayout125.xml"/><Relationship Id="rId45" Type="http://schemas.openxmlformats.org/officeDocument/2006/relationships/slideLayout" Target="../slideLayouts/slideLayout130.xml"/><Relationship Id="rId66" Type="http://schemas.openxmlformats.org/officeDocument/2006/relationships/slideLayout" Target="../slideLayouts/slideLayout151.xml"/><Relationship Id="rId61" Type="http://schemas.openxmlformats.org/officeDocument/2006/relationships/slideLayout" Target="../slideLayouts/slideLayout146.xml"/><Relationship Id="rId82" Type="http://schemas.openxmlformats.org/officeDocument/2006/relationships/slideLayout" Target="../slideLayouts/slideLayout1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318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825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823" r:id="rId27"/>
    <p:sldLayoutId id="2147483766" r:id="rId28"/>
    <p:sldLayoutId id="2147483767" r:id="rId29"/>
    <p:sldLayoutId id="2147483768" r:id="rId30"/>
    <p:sldLayoutId id="2147483769" r:id="rId31"/>
    <p:sldLayoutId id="2147483770" r:id="rId32"/>
    <p:sldLayoutId id="2147483771" r:id="rId33"/>
    <p:sldLayoutId id="2147483772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78" r:id="rId40"/>
    <p:sldLayoutId id="2147483779" r:id="rId41"/>
    <p:sldLayoutId id="2147483780" r:id="rId42"/>
    <p:sldLayoutId id="2147483781" r:id="rId43"/>
    <p:sldLayoutId id="2147483782" r:id="rId44"/>
    <p:sldLayoutId id="2147483783" r:id="rId45"/>
    <p:sldLayoutId id="2147483784" r:id="rId46"/>
    <p:sldLayoutId id="2147483785" r:id="rId47"/>
    <p:sldLayoutId id="2147483786" r:id="rId48"/>
    <p:sldLayoutId id="2147483787" r:id="rId49"/>
    <p:sldLayoutId id="2147483788" r:id="rId50"/>
    <p:sldLayoutId id="2147483789" r:id="rId51"/>
    <p:sldLayoutId id="2147483790" r:id="rId52"/>
    <p:sldLayoutId id="2147483791" r:id="rId53"/>
    <p:sldLayoutId id="2147483792" r:id="rId54"/>
    <p:sldLayoutId id="2147483793" r:id="rId55"/>
    <p:sldLayoutId id="2147483794" r:id="rId56"/>
    <p:sldLayoutId id="2147483795" r:id="rId57"/>
    <p:sldLayoutId id="2147483796" r:id="rId58"/>
    <p:sldLayoutId id="2147483797" r:id="rId59"/>
    <p:sldLayoutId id="2147483798" r:id="rId60"/>
    <p:sldLayoutId id="2147483799" r:id="rId61"/>
    <p:sldLayoutId id="2147483800" r:id="rId62"/>
    <p:sldLayoutId id="2147483827" r:id="rId63"/>
    <p:sldLayoutId id="2147483803" r:id="rId64"/>
    <p:sldLayoutId id="2147483801" r:id="rId65"/>
    <p:sldLayoutId id="2147483802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  <p:sldLayoutId id="2147483813" r:id="rId76"/>
    <p:sldLayoutId id="2147483814" r:id="rId77"/>
    <p:sldLayoutId id="2147483815" r:id="rId78"/>
    <p:sldLayoutId id="2147483816" r:id="rId79"/>
    <p:sldLayoutId id="2147483817" r:id="rId80"/>
    <p:sldLayoutId id="2147483818" r:id="rId81"/>
    <p:sldLayoutId id="2147483819" r:id="rId82"/>
    <p:sldLayoutId id="2147483820" r:id="rId83"/>
    <p:sldLayoutId id="2147483821" r:id="rId84"/>
    <p:sldLayoutId id="2147483822" r:id="rId8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EA4335"/>
          </p15:clr>
        </p15:guide>
        <p15:guide id="2" orient="horz" pos="2160" userDrawn="1">
          <p15:clr>
            <a:srgbClr val="EA4335"/>
          </p15:clr>
        </p15:guide>
        <p15:guide id="3" orient="horz" pos="4032" userDrawn="1">
          <p15:clr>
            <a:srgbClr val="EA4335"/>
          </p15:clr>
        </p15:guide>
        <p15:guide id="4" orient="horz" pos="288" userDrawn="1">
          <p15:clr>
            <a:srgbClr val="EA4335"/>
          </p15:clr>
        </p15:guide>
        <p15:guide id="5" pos="276" userDrawn="1">
          <p15:clr>
            <a:srgbClr val="EA4335"/>
          </p15:clr>
        </p15:guide>
        <p15:guide id="6" pos="7404" userDrawn="1">
          <p15:clr>
            <a:srgbClr val="EA4335"/>
          </p15:clr>
        </p15:guide>
        <p15:guide id="7" pos="2059" userDrawn="1">
          <p15:clr>
            <a:srgbClr val="EA4335"/>
          </p15:clr>
        </p15:guide>
        <p15:guide id="8" pos="5621" userDrawn="1">
          <p15:clr>
            <a:srgbClr val="EA4335"/>
          </p15:clr>
        </p15:guide>
        <p15:guide id="9" orient="horz" pos="1224" userDrawn="1">
          <p15:clr>
            <a:srgbClr val="EA4335"/>
          </p15:clr>
        </p15:guide>
        <p15:guide id="10" orient="horz" pos="3096" userDrawn="1">
          <p15:clr>
            <a:srgbClr val="EA4335"/>
          </p15:clr>
        </p15:guide>
        <p15:guide id="11" pos="1168" userDrawn="1">
          <p15:clr>
            <a:srgbClr val="EA4335"/>
          </p15:clr>
        </p15:guide>
        <p15:guide id="12" pos="2949" userDrawn="1">
          <p15:clr>
            <a:srgbClr val="EA4335"/>
          </p15:clr>
        </p15:guide>
        <p15:guide id="13" pos="4731" userDrawn="1">
          <p15:clr>
            <a:srgbClr val="EA4335"/>
          </p15:clr>
        </p15:guide>
        <p15:guide id="14" pos="6512" userDrawn="1">
          <p15:clr>
            <a:srgbClr val="EA4335"/>
          </p15:clr>
        </p15:guide>
        <p15:guide id="15" orient="horz" pos="756" userDrawn="1">
          <p15:clr>
            <a:srgbClr val="EA4335"/>
          </p15:clr>
        </p15:guide>
        <p15:guide id="16" orient="horz" pos="1692" userDrawn="1">
          <p15:clr>
            <a:srgbClr val="EA4335"/>
          </p15:clr>
        </p15:guide>
        <p15:guide id="17" orient="horz" pos="2628" userDrawn="1">
          <p15:clr>
            <a:srgbClr val="EA4335"/>
          </p15:clr>
        </p15:guide>
        <p15:guide id="18" orient="horz" pos="3564" userDrawn="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5397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  <p:sldLayoutId id="2147483856" r:id="rId28"/>
    <p:sldLayoutId id="2147483857" r:id="rId29"/>
    <p:sldLayoutId id="2147483858" r:id="rId30"/>
    <p:sldLayoutId id="2147483859" r:id="rId31"/>
    <p:sldLayoutId id="2147483860" r:id="rId32"/>
    <p:sldLayoutId id="2147483861" r:id="rId33"/>
    <p:sldLayoutId id="2147483862" r:id="rId34"/>
    <p:sldLayoutId id="2147483863" r:id="rId35"/>
    <p:sldLayoutId id="2147483864" r:id="rId36"/>
    <p:sldLayoutId id="2147483865" r:id="rId37"/>
    <p:sldLayoutId id="2147483866" r:id="rId38"/>
    <p:sldLayoutId id="2147483867" r:id="rId39"/>
    <p:sldLayoutId id="2147483868" r:id="rId40"/>
    <p:sldLayoutId id="2147483869" r:id="rId41"/>
    <p:sldLayoutId id="2147483870" r:id="rId42"/>
    <p:sldLayoutId id="2147483871" r:id="rId43"/>
    <p:sldLayoutId id="2147483872" r:id="rId44"/>
    <p:sldLayoutId id="2147483873" r:id="rId45"/>
    <p:sldLayoutId id="2147483874" r:id="rId46"/>
    <p:sldLayoutId id="2147483875" r:id="rId47"/>
    <p:sldLayoutId id="2147483876" r:id="rId48"/>
    <p:sldLayoutId id="2147483877" r:id="rId49"/>
    <p:sldLayoutId id="2147483878" r:id="rId50"/>
    <p:sldLayoutId id="2147483879" r:id="rId51"/>
    <p:sldLayoutId id="2147483880" r:id="rId52"/>
    <p:sldLayoutId id="2147483881" r:id="rId53"/>
    <p:sldLayoutId id="2147483882" r:id="rId54"/>
    <p:sldLayoutId id="2147483883" r:id="rId55"/>
    <p:sldLayoutId id="2147483884" r:id="rId56"/>
    <p:sldLayoutId id="2147483885" r:id="rId57"/>
    <p:sldLayoutId id="2147483886" r:id="rId58"/>
    <p:sldLayoutId id="2147483887" r:id="rId59"/>
    <p:sldLayoutId id="2147483888" r:id="rId60"/>
    <p:sldLayoutId id="2147483889" r:id="rId61"/>
    <p:sldLayoutId id="2147483890" r:id="rId62"/>
    <p:sldLayoutId id="2147483891" r:id="rId63"/>
    <p:sldLayoutId id="2147483892" r:id="rId64"/>
    <p:sldLayoutId id="2147483893" r:id="rId65"/>
    <p:sldLayoutId id="2147483894" r:id="rId66"/>
    <p:sldLayoutId id="2147483895" r:id="rId67"/>
    <p:sldLayoutId id="2147483896" r:id="rId68"/>
    <p:sldLayoutId id="2147483897" r:id="rId69"/>
    <p:sldLayoutId id="2147483898" r:id="rId70"/>
    <p:sldLayoutId id="2147483899" r:id="rId71"/>
    <p:sldLayoutId id="2147483900" r:id="rId72"/>
    <p:sldLayoutId id="2147483901" r:id="rId73"/>
    <p:sldLayoutId id="2147483902" r:id="rId74"/>
    <p:sldLayoutId id="2147483903" r:id="rId75"/>
    <p:sldLayoutId id="2147483904" r:id="rId76"/>
    <p:sldLayoutId id="2147483905" r:id="rId77"/>
    <p:sldLayoutId id="2147483906" r:id="rId78"/>
    <p:sldLayoutId id="2147483907" r:id="rId79"/>
    <p:sldLayoutId id="2147483908" r:id="rId80"/>
    <p:sldLayoutId id="2147483909" r:id="rId81"/>
    <p:sldLayoutId id="2147483910" r:id="rId82"/>
    <p:sldLayoutId id="2147483911" r:id="rId83"/>
    <p:sldLayoutId id="2147483912" r:id="rId84"/>
    <p:sldLayoutId id="2147483913" r:id="rId8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EA4335"/>
          </p15:clr>
        </p15:guide>
        <p15:guide id="2" orient="horz" pos="2160">
          <p15:clr>
            <a:srgbClr val="EA4335"/>
          </p15:clr>
        </p15:guide>
        <p15:guide id="3" orient="horz" pos="4032">
          <p15:clr>
            <a:srgbClr val="EA4335"/>
          </p15:clr>
        </p15:guide>
        <p15:guide id="4" orient="horz" pos="288">
          <p15:clr>
            <a:srgbClr val="EA4335"/>
          </p15:clr>
        </p15:guide>
        <p15:guide id="5" pos="276">
          <p15:clr>
            <a:srgbClr val="EA4335"/>
          </p15:clr>
        </p15:guide>
        <p15:guide id="6" pos="7404">
          <p15:clr>
            <a:srgbClr val="EA4335"/>
          </p15:clr>
        </p15:guide>
        <p15:guide id="7" pos="2059">
          <p15:clr>
            <a:srgbClr val="EA4335"/>
          </p15:clr>
        </p15:guide>
        <p15:guide id="8" pos="5621">
          <p15:clr>
            <a:srgbClr val="EA4335"/>
          </p15:clr>
        </p15:guide>
        <p15:guide id="9" orient="horz" pos="1224">
          <p15:clr>
            <a:srgbClr val="EA4335"/>
          </p15:clr>
        </p15:guide>
        <p15:guide id="10" orient="horz" pos="3096">
          <p15:clr>
            <a:srgbClr val="EA4335"/>
          </p15:clr>
        </p15:guide>
        <p15:guide id="11" pos="1168">
          <p15:clr>
            <a:srgbClr val="EA4335"/>
          </p15:clr>
        </p15:guide>
        <p15:guide id="12" pos="2949">
          <p15:clr>
            <a:srgbClr val="EA4335"/>
          </p15:clr>
        </p15:guide>
        <p15:guide id="13" pos="4731">
          <p15:clr>
            <a:srgbClr val="EA4335"/>
          </p15:clr>
        </p15:guide>
        <p15:guide id="14" pos="6512">
          <p15:clr>
            <a:srgbClr val="EA4335"/>
          </p15:clr>
        </p15:guide>
        <p15:guide id="15" orient="horz" pos="756">
          <p15:clr>
            <a:srgbClr val="EA4335"/>
          </p15:clr>
        </p15:guide>
        <p15:guide id="16" orient="horz" pos="1692">
          <p15:clr>
            <a:srgbClr val="EA4335"/>
          </p15:clr>
        </p15:guide>
        <p15:guide id="17" orient="horz" pos="2628">
          <p15:clr>
            <a:srgbClr val="EA4335"/>
          </p15:clr>
        </p15:guide>
        <p15:guide id="18" orient="horz" pos="356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/>
          <p:cNvSpPr txBox="1">
            <a:spLocks noGrp="1"/>
          </p:cNvSpPr>
          <p:nvPr>
            <p:ph type="title"/>
          </p:nvPr>
        </p:nvSpPr>
        <p:spPr>
          <a:xfrm>
            <a:off x="602237" y="1785324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6600" dirty="0"/>
              <a:t>AI Without the Cloud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C9F83E9-1AAD-EB07-0AF2-5D209563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132" y="3443627"/>
            <a:ext cx="6348999" cy="454665"/>
          </a:xfrm>
        </p:spPr>
        <p:txBody>
          <a:bodyPr/>
          <a:lstStyle/>
          <a:p>
            <a:pPr marL="152396" indent="0">
              <a:buNone/>
            </a:pPr>
            <a:r>
              <a:rPr lang="en-US" dirty="0">
                <a:solidFill>
                  <a:schemeClr val="accent2"/>
                </a:solidFill>
              </a:rPr>
              <a:t>Getting Started for Free, Privately, Locally with Open Source Frameworks &amp; Models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1BF0F-970C-3DC3-E3FC-3FB9A3B87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817049"/>
            <a:ext cx="1891956" cy="5652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8D1CC53-E467-0D52-D3B9-53DD5E93D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  <p:sp>
        <p:nvSpPr>
          <p:cNvPr id="5" name="Subtitle 11">
            <a:extLst>
              <a:ext uri="{FF2B5EF4-FFF2-40B4-BE49-F238E27FC236}">
                <a16:creationId xmlns:a16="http://schemas.microsoft.com/office/drawing/2014/main" id="{CEF71CAA-2F36-C1E5-950B-683229FC9BDA}"/>
              </a:ext>
            </a:extLst>
          </p:cNvPr>
          <p:cNvSpPr txBox="1">
            <a:spLocks/>
          </p:cNvSpPr>
          <p:nvPr/>
        </p:nvSpPr>
        <p:spPr>
          <a:xfrm>
            <a:off x="602237" y="4643820"/>
            <a:ext cx="4475949" cy="45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Your Data. Your Hardware. Your AI.</a:t>
            </a:r>
          </a:p>
          <a:p>
            <a:pPr marL="0" indent="0"/>
            <a:endParaRPr lang="en-US" sz="1600" dirty="0">
              <a:solidFill>
                <a:schemeClr val="bg1">
                  <a:lumMod val="50000"/>
                </a:schemeClr>
              </a:solidFill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0297D1E-223D-C26B-0D5F-A9E77241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1948636"/>
            <a:ext cx="6011939" cy="2215991"/>
          </a:xfrm>
        </p:spPr>
        <p:txBody>
          <a:bodyPr/>
          <a:lstStyle/>
          <a:p>
            <a:r>
              <a:rPr lang="en-US" sz="4800" dirty="0"/>
              <a:t>Why Cloud-Hosted AI Isn't Always the Answer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E748E19-45C0-8345-5A02-342D91EB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3679931"/>
            <a:ext cx="4561758" cy="10948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Five critical barriers are pushing developers toward local alternatives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76054C-F139-3ED3-A354-4A873C539ACA}"/>
              </a:ext>
            </a:extLst>
          </p:cNvPr>
          <p:cNvSpPr txBox="1"/>
          <p:nvPr/>
        </p:nvSpPr>
        <p:spPr>
          <a:xfrm>
            <a:off x="335756" y="1535906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The Problem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4A23257-6098-9DC0-28B2-32B8C7E94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5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133B-55D7-C01A-0D6C-0D44A040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9" y="457201"/>
            <a:ext cx="3976797" cy="574453"/>
          </a:xfrm>
        </p:spPr>
        <p:txBody>
          <a:bodyPr/>
          <a:lstStyle/>
          <a:p>
            <a:r>
              <a:rPr lang="en-US" dirty="0"/>
              <a:t>Privacy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5CBDE-6F83-5E32-569A-FF18C4C04D8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159795"/>
            <a:ext cx="4118846" cy="3226467"/>
          </a:xfrm>
        </p:spPr>
        <p:txBody>
          <a:bodyPr/>
          <a:lstStyle/>
          <a:p>
            <a:r>
              <a:rPr lang="en-US" sz="1400" dirty="0"/>
              <a:t>Every prompt you send to a cloud API travels across the internet</a:t>
            </a:r>
          </a:p>
          <a:p>
            <a:endParaRPr lang="en-US" sz="1400" dirty="0"/>
          </a:p>
          <a:p>
            <a:r>
              <a:rPr lang="en-US" sz="1400" dirty="0"/>
              <a:t>Your proprietary code, customer data, and trade secrets are processed on someone else's servers</a:t>
            </a:r>
          </a:p>
          <a:p>
            <a:endParaRPr lang="en-US" sz="1400" dirty="0"/>
          </a:p>
          <a:p>
            <a:r>
              <a:rPr lang="en-US" sz="1400" dirty="0"/>
              <a:t>Cloud providers may log, store, or analyze your inputs for service improvement</a:t>
            </a:r>
          </a:p>
          <a:p>
            <a:endParaRPr lang="en-US" sz="1400" dirty="0"/>
          </a:p>
          <a:p>
            <a:r>
              <a:rPr lang="en-US" sz="1400" dirty="0"/>
              <a:t>GDPR, HIPAA, and SOC2 compliance becomes exponentially harder with external AI providers</a:t>
            </a:r>
          </a:p>
        </p:txBody>
      </p:sp>
      <p:pic>
        <p:nvPicPr>
          <p:cNvPr id="6" name="Image 0" descr="/agent/turn1/workspace/images/digital-padlock-with-glowing-red-warning-symbols-a_2026-05-08T12-03-07_image_DAS_0.jpg">
            <a:extLst>
              <a:ext uri="{FF2B5EF4-FFF2-40B4-BE49-F238E27FC236}">
                <a16:creationId xmlns:a16="http://schemas.microsoft.com/office/drawing/2014/main" id="{63974D34-1BA0-AADB-46FB-1D4FAAC7F8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30417" r="30417"/>
          <a:stretch/>
        </p:blipFill>
        <p:spPr>
          <a:xfrm>
            <a:off x="6702950" y="-1"/>
            <a:ext cx="5489050" cy="6861313"/>
          </a:xfrm>
          <a:prstGeom prst="rect">
            <a:avLst/>
          </a:prstGeom>
          <a:effectLst>
            <a:softEdge rad="0"/>
          </a:effec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EACDA6-E1A1-23A2-2D8C-D036D4E3BE3A}"/>
              </a:ext>
            </a:extLst>
          </p:cNvPr>
          <p:cNvSpPr/>
          <p:nvPr/>
        </p:nvSpPr>
        <p:spPr>
          <a:xfrm>
            <a:off x="438867" y="457201"/>
            <a:ext cx="428436" cy="428436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4999830-C964-6C27-B77A-979A52623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785" y="55711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8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133B-55D7-C01A-0D6C-0D44A040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9" y="457201"/>
            <a:ext cx="3976797" cy="574453"/>
          </a:xfrm>
        </p:spPr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EACDA6-E1A1-23A2-2D8C-D036D4E3BE3A}"/>
              </a:ext>
            </a:extLst>
          </p:cNvPr>
          <p:cNvSpPr/>
          <p:nvPr/>
        </p:nvSpPr>
        <p:spPr>
          <a:xfrm>
            <a:off x="438867" y="457201"/>
            <a:ext cx="428436" cy="428436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306FEC-B768-43CB-1009-2103964A70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785" y="557119"/>
            <a:ext cx="228600" cy="2286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181823-3D4D-33B4-46A6-337C30AC5E9D}"/>
              </a:ext>
            </a:extLst>
          </p:cNvPr>
          <p:cNvSpPr/>
          <p:nvPr/>
        </p:nvSpPr>
        <p:spPr>
          <a:xfrm>
            <a:off x="438867" y="1830837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2">
                  <a:alpha val="19969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E05480-C264-662B-DF5A-4826740B4B0D}"/>
              </a:ext>
            </a:extLst>
          </p:cNvPr>
          <p:cNvSpPr/>
          <p:nvPr/>
        </p:nvSpPr>
        <p:spPr>
          <a:xfrm>
            <a:off x="6096000" y="1830837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2">
                  <a:alpha val="19969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48D3F93-8422-5B20-B171-88A459BCD586}"/>
              </a:ext>
            </a:extLst>
          </p:cNvPr>
          <p:cNvSpPr/>
          <p:nvPr/>
        </p:nvSpPr>
        <p:spPr>
          <a:xfrm>
            <a:off x="438867" y="3667588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2">
                  <a:alpha val="19969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8DF6C6-C669-7401-EC99-B1FAB3FEE6A9}"/>
              </a:ext>
            </a:extLst>
          </p:cNvPr>
          <p:cNvSpPr/>
          <p:nvPr/>
        </p:nvSpPr>
        <p:spPr>
          <a:xfrm>
            <a:off x="6096000" y="3667588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2">
                  <a:alpha val="19969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5CBDE-6F83-5E32-569A-FF18C4C04D8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87013" y="2171176"/>
            <a:ext cx="4534121" cy="812128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Attack Surface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/>
              <a:t>API keys, network traffic, and cloud provider breaches create multiple vectors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E77A623-E693-36C4-B98E-082140C30633}"/>
              </a:ext>
            </a:extLst>
          </p:cNvPr>
          <p:cNvSpPr txBox="1">
            <a:spLocks/>
          </p:cNvSpPr>
          <p:nvPr/>
        </p:nvSpPr>
        <p:spPr>
          <a:xfrm>
            <a:off x="6440390" y="2171176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Data Exfiltration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Sensitive data transmitted over the wire is vulnerable to interception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5F611F-9CF4-348F-33C0-506C2F8E3642}"/>
              </a:ext>
            </a:extLst>
          </p:cNvPr>
          <p:cNvSpPr txBox="1">
            <a:spLocks/>
          </p:cNvSpPr>
          <p:nvPr/>
        </p:nvSpPr>
        <p:spPr>
          <a:xfrm>
            <a:off x="787013" y="4007927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Supply Chain Risk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Dependency on third-party infrastructure introduces cascading failure points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403ACC8-25E5-5EBC-AC11-FBD5B3B441FB}"/>
              </a:ext>
            </a:extLst>
          </p:cNvPr>
          <p:cNvSpPr txBox="1">
            <a:spLocks/>
          </p:cNvSpPr>
          <p:nvPr/>
        </p:nvSpPr>
        <p:spPr>
          <a:xfrm>
            <a:off x="6440390" y="4007927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Zero-Day Exposure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Cloud platforms are high-value targets for sophisticated threat actors</a:t>
            </a:r>
          </a:p>
        </p:txBody>
      </p:sp>
    </p:spTree>
    <p:extLst>
      <p:ext uri="{BB962C8B-B14F-4D97-AF65-F5344CB8AC3E}">
        <p14:creationId xmlns:p14="http://schemas.microsoft.com/office/powerpoint/2010/main" val="163560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133B-55D7-C01A-0D6C-0D44A040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9" y="457201"/>
            <a:ext cx="3976797" cy="574453"/>
          </a:xfrm>
        </p:spPr>
        <p:txBody>
          <a:bodyPr/>
          <a:lstStyle/>
          <a:p>
            <a:r>
              <a:rPr lang="en-US" dirty="0"/>
              <a:t>Intellectual Property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5CBDE-6F83-5E32-569A-FF18C4C04D8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159795"/>
            <a:ext cx="5755199" cy="3226467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Who owns what you create with cloud AI?</a:t>
            </a:r>
            <a:endParaRPr lang="en-US" sz="1800" dirty="0">
              <a:solidFill>
                <a:schemeClr val="accent2"/>
              </a:solidFill>
              <a:latin typeface="DM Sans 14pt" pitchFamily="2" charset="77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Terms of service vary wildly between providers. Some claim rights to use your inputs for training. Others retain broad licenses over generated outputs.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Your competitive advantage could be training your competitor's next model update.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With local models, your prompts, your outputs, and your fine-tuned weights belong entirely to you.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EACDA6-E1A1-23A2-2D8C-D036D4E3BE3A}"/>
              </a:ext>
            </a:extLst>
          </p:cNvPr>
          <p:cNvSpPr/>
          <p:nvPr/>
        </p:nvSpPr>
        <p:spPr>
          <a:xfrm>
            <a:off x="438867" y="457201"/>
            <a:ext cx="428436" cy="428436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9DC2B3D-C254-4A71-65BB-BF304BCBE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785" y="55711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2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6869-AB01-BD77-411F-F02C61F4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889" y="457201"/>
            <a:ext cx="5588222" cy="574453"/>
          </a:xfrm>
        </p:spPr>
        <p:txBody>
          <a:bodyPr/>
          <a:lstStyle/>
          <a:p>
            <a:pPr algn="ctr"/>
            <a:r>
              <a:rPr lang="en-US" dirty="0"/>
              <a:t>They're Learning From Your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E6240-31B5-0E32-100B-AA02EDA7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1934" y="4102323"/>
            <a:ext cx="7449976" cy="574444"/>
          </a:xfrm>
        </p:spPr>
        <p:txBody>
          <a:bodyPr/>
          <a:lstStyle/>
          <a:p>
            <a:pPr algn="ctr">
              <a:lnSpc>
                <a:spcPts val="2200"/>
              </a:lnSpc>
            </a:pPr>
            <a:r>
              <a:rPr lang="en-US" dirty="0">
                <a:solidFill>
                  <a:schemeClr val="accent2"/>
                </a:solidFill>
              </a:rPr>
              <a:t>Most major cloud AI providers use your data by default unless you explicitly opt out—and even then, trust is the only verification.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91CBC4-8509-B3AD-A005-F89A6203C2DB}"/>
              </a:ext>
            </a:extLst>
          </p:cNvPr>
          <p:cNvSpPr/>
          <p:nvPr/>
        </p:nvSpPr>
        <p:spPr>
          <a:xfrm>
            <a:off x="1359198" y="1927927"/>
            <a:ext cx="2131422" cy="1278123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1">
                  <a:alpha val="1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175AE0-F8E0-0D2D-561C-74AD6E511889}"/>
              </a:ext>
            </a:extLst>
          </p:cNvPr>
          <p:cNvSpPr txBox="1">
            <a:spLocks/>
          </p:cNvSpPr>
          <p:nvPr/>
        </p:nvSpPr>
        <p:spPr>
          <a:xfrm>
            <a:off x="1582558" y="2082462"/>
            <a:ext cx="1684701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  <a:latin typeface="DM Sans 14pt" pitchFamily="2" charset="77"/>
              </a:rPr>
              <a:t>01</a:t>
            </a:r>
          </a:p>
          <a:p>
            <a:pPr marL="0"/>
            <a:r>
              <a: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You send a prompt containing proprietary code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8CE79CB-DAB0-03AB-6CB1-FA68429A549D}"/>
              </a:ext>
            </a:extLst>
          </p:cNvPr>
          <p:cNvSpPr/>
          <p:nvPr/>
        </p:nvSpPr>
        <p:spPr>
          <a:xfrm>
            <a:off x="3816151" y="1927927"/>
            <a:ext cx="2131422" cy="1278123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1">
                  <a:alpha val="1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7495970-933D-FAA2-1B45-A4355D56EF09}"/>
              </a:ext>
            </a:extLst>
          </p:cNvPr>
          <p:cNvSpPr txBox="1">
            <a:spLocks/>
          </p:cNvSpPr>
          <p:nvPr/>
        </p:nvSpPr>
        <p:spPr>
          <a:xfrm>
            <a:off x="4039511" y="2082462"/>
            <a:ext cx="1684701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  <a:latin typeface="DM Sans 14pt" pitchFamily="2" charset="77"/>
              </a:rPr>
              <a:t>02</a:t>
            </a:r>
          </a:p>
          <a:p>
            <a:pPr marL="0"/>
            <a:r>
              <a: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Cloud provider logs</a:t>
            </a:r>
          </a:p>
          <a:p>
            <a:pPr marL="0"/>
            <a:r>
              <a: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the interaction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99CCF98-1407-1F21-8EEC-1CA5C0568FAE}"/>
              </a:ext>
            </a:extLst>
          </p:cNvPr>
          <p:cNvSpPr/>
          <p:nvPr/>
        </p:nvSpPr>
        <p:spPr>
          <a:xfrm>
            <a:off x="6273105" y="1927927"/>
            <a:ext cx="2131422" cy="1278123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1">
                  <a:alpha val="1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BA51A84-5E39-D6B4-A69A-0E1752D05221}"/>
              </a:ext>
            </a:extLst>
          </p:cNvPr>
          <p:cNvSpPr txBox="1">
            <a:spLocks/>
          </p:cNvSpPr>
          <p:nvPr/>
        </p:nvSpPr>
        <p:spPr>
          <a:xfrm>
            <a:off x="6496465" y="2082462"/>
            <a:ext cx="1684701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  <a:latin typeface="DM Sans 14pt" pitchFamily="2" charset="77"/>
              </a:rPr>
              <a:t>03</a:t>
            </a:r>
          </a:p>
          <a:p>
            <a:pPr marL="0"/>
            <a:r>
              <a: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Your data trains the next model version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9A9C7A-9D93-3E96-CFAE-F6F8566617AE}"/>
              </a:ext>
            </a:extLst>
          </p:cNvPr>
          <p:cNvSpPr/>
          <p:nvPr/>
        </p:nvSpPr>
        <p:spPr>
          <a:xfrm>
            <a:off x="8730058" y="1927927"/>
            <a:ext cx="2131422" cy="1278123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1">
                  <a:alpha val="1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901CCB8-DD72-BC2C-EC30-CF1C955F5C1D}"/>
              </a:ext>
            </a:extLst>
          </p:cNvPr>
          <p:cNvSpPr txBox="1">
            <a:spLocks/>
          </p:cNvSpPr>
          <p:nvPr/>
        </p:nvSpPr>
        <p:spPr>
          <a:xfrm>
            <a:off x="8953418" y="2082462"/>
            <a:ext cx="1684701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  <a:latin typeface="DM Sans 14pt" pitchFamily="2" charset="77"/>
              </a:rPr>
              <a:t>04</a:t>
            </a:r>
          </a:p>
          <a:p>
            <a:pPr marL="0"/>
            <a:r>
              <a: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Competitors get a model improved by your IP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39984B-8E87-2F31-7960-6499459E704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490620" y="2566989"/>
            <a:ext cx="325531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A11820-18E0-BFE9-884F-6B984DF4376F}"/>
              </a:ext>
            </a:extLst>
          </p:cNvPr>
          <p:cNvCxnSpPr>
            <a:cxnSpLocks/>
          </p:cNvCxnSpPr>
          <p:nvPr/>
        </p:nvCxnSpPr>
        <p:spPr>
          <a:xfrm>
            <a:off x="5971427" y="2566989"/>
            <a:ext cx="325531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73F03A-9609-D5D2-1D0F-05C744653C76}"/>
              </a:ext>
            </a:extLst>
          </p:cNvPr>
          <p:cNvCxnSpPr>
            <a:cxnSpLocks/>
          </p:cNvCxnSpPr>
          <p:nvPr/>
        </p:nvCxnSpPr>
        <p:spPr>
          <a:xfrm>
            <a:off x="8404526" y="2566989"/>
            <a:ext cx="325531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79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133B-55D7-C01A-0D6C-0D44A040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9" y="457201"/>
            <a:ext cx="3976797" cy="574453"/>
          </a:xfrm>
        </p:spPr>
        <p:txBody>
          <a:bodyPr/>
          <a:lstStyle/>
          <a:p>
            <a:r>
              <a:rPr lang="en-US" dirty="0"/>
              <a:t>The Cost Problem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5CBDE-6F83-5E32-569A-FF18C4C04D8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4150616"/>
            <a:ext cx="6001690" cy="692859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Pay for hardware once. Run unlimited inference forever. No rate limits. No per-token fees.</a:t>
            </a:r>
          </a:p>
          <a:p>
            <a:pPr marL="0" indent="0">
              <a:buNone/>
            </a:pPr>
            <a:endParaRPr lang="en-US" sz="1800" b="1" dirty="0">
              <a:latin typeface="DM Sans 14pt" pitchFamily="2" charset="77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EACDA6-E1A1-23A2-2D8C-D036D4E3BE3A}"/>
              </a:ext>
            </a:extLst>
          </p:cNvPr>
          <p:cNvSpPr/>
          <p:nvPr/>
        </p:nvSpPr>
        <p:spPr>
          <a:xfrm>
            <a:off x="438867" y="457201"/>
            <a:ext cx="428436" cy="428436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1C2A5D-F26E-FC68-15E6-ACD50422E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785" y="557119"/>
            <a:ext cx="228600" cy="2286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603980-DEB0-2E8E-C45E-E60B5E99E440}"/>
              </a:ext>
            </a:extLst>
          </p:cNvPr>
          <p:cNvSpPr/>
          <p:nvPr/>
        </p:nvSpPr>
        <p:spPr>
          <a:xfrm>
            <a:off x="438867" y="1753270"/>
            <a:ext cx="2956250" cy="16757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9" name="Stat3Txt">
            <a:extLst>
              <a:ext uri="{FF2B5EF4-FFF2-40B4-BE49-F238E27FC236}">
                <a16:creationId xmlns:a16="http://schemas.microsoft.com/office/drawing/2014/main" id="{4A1899CA-EF07-9BF1-1405-B02291D387B8}"/>
              </a:ext>
            </a:extLst>
          </p:cNvPr>
          <p:cNvSpPr/>
          <p:nvPr/>
        </p:nvSpPr>
        <p:spPr>
          <a:xfrm>
            <a:off x="621747" y="1851484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$7-15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per 1M tokens Frontier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3BC956-1B08-7006-E8DC-A9EF320325B4}"/>
              </a:ext>
            </a:extLst>
          </p:cNvPr>
          <p:cNvSpPr/>
          <p:nvPr/>
        </p:nvSpPr>
        <p:spPr>
          <a:xfrm>
            <a:off x="3738658" y="1753270"/>
            <a:ext cx="2956250" cy="16757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1" name="Stat3Txt">
            <a:extLst>
              <a:ext uri="{FF2B5EF4-FFF2-40B4-BE49-F238E27FC236}">
                <a16:creationId xmlns:a16="http://schemas.microsoft.com/office/drawing/2014/main" id="{083DFFAC-999B-0F52-F5E6-B388A85AC7A9}"/>
              </a:ext>
            </a:extLst>
          </p:cNvPr>
          <p:cNvSpPr/>
          <p:nvPr/>
        </p:nvSpPr>
        <p:spPr>
          <a:xfrm>
            <a:off x="3921538" y="1851484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$0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per 1M tokens Local inference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9A83F60-107C-690B-032E-7D2340F1B3AC}"/>
              </a:ext>
            </a:extLst>
          </p:cNvPr>
          <p:cNvSpPr/>
          <p:nvPr/>
        </p:nvSpPr>
        <p:spPr>
          <a:xfrm>
            <a:off x="7038449" y="1753270"/>
            <a:ext cx="2956250" cy="16757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3" name="Stat3Txt">
            <a:extLst>
              <a:ext uri="{FF2B5EF4-FFF2-40B4-BE49-F238E27FC236}">
                <a16:creationId xmlns:a16="http://schemas.microsoft.com/office/drawing/2014/main" id="{EF28E36C-7820-2363-0745-EAD44E857607}"/>
              </a:ext>
            </a:extLst>
          </p:cNvPr>
          <p:cNvSpPr/>
          <p:nvPr/>
        </p:nvSpPr>
        <p:spPr>
          <a:xfrm>
            <a:off x="7221329" y="1851484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100x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cost difference at scale 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(10M+ tokens/day)</a:t>
            </a:r>
          </a:p>
        </p:txBody>
      </p:sp>
    </p:spTree>
    <p:extLst>
      <p:ext uri="{BB962C8B-B14F-4D97-AF65-F5344CB8AC3E}">
        <p14:creationId xmlns:p14="http://schemas.microsoft.com/office/powerpoint/2010/main" val="364392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0297D1E-223D-C26B-0D5F-A9E77241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1948636"/>
            <a:ext cx="6011939" cy="1477328"/>
          </a:xfrm>
        </p:spPr>
        <p:txBody>
          <a:bodyPr/>
          <a:lstStyle/>
          <a:p>
            <a:r>
              <a:rPr lang="en-US" sz="4800" dirty="0"/>
              <a:t>Run AI Locally.</a:t>
            </a:r>
            <a:br>
              <a:rPr lang="en-US" sz="4800" dirty="0"/>
            </a:br>
            <a:r>
              <a:rPr lang="en-US" sz="4800" dirty="0"/>
              <a:t>For Free. Right Now.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E748E19-45C0-8345-5A02-342D91EB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3679931"/>
            <a:ext cx="7417022" cy="10948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Open source frameworks + open weight models = complete local AI stack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76054C-F139-3ED3-A354-4A873C539ACA}"/>
              </a:ext>
            </a:extLst>
          </p:cNvPr>
          <p:cNvSpPr txBox="1"/>
          <p:nvPr/>
        </p:nvSpPr>
        <p:spPr>
          <a:xfrm>
            <a:off x="335756" y="1535906"/>
            <a:ext cx="1069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The Solution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74AB719-AFE7-94EC-1A18-BC275C25A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3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E454F2B-62F1-5EBD-D1DB-064443957E39}"/>
              </a:ext>
            </a:extLst>
          </p:cNvPr>
          <p:cNvSpPr/>
          <p:nvPr/>
        </p:nvSpPr>
        <p:spPr>
          <a:xfrm>
            <a:off x="948485" y="1905298"/>
            <a:ext cx="3286881" cy="3349551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5">
                  <a:alpha val="25084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2152EF1-09FC-C24C-B751-C1C785415C7E}"/>
              </a:ext>
            </a:extLst>
          </p:cNvPr>
          <p:cNvSpPr/>
          <p:nvPr/>
        </p:nvSpPr>
        <p:spPr>
          <a:xfrm>
            <a:off x="4452559" y="1905298"/>
            <a:ext cx="3286881" cy="3349551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5">
                  <a:alpha val="25084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4CA31E2-D71C-8BC3-E3B1-B6B0E168F4CB}"/>
              </a:ext>
            </a:extLst>
          </p:cNvPr>
          <p:cNvSpPr/>
          <p:nvPr/>
        </p:nvSpPr>
        <p:spPr>
          <a:xfrm>
            <a:off x="7956633" y="1905298"/>
            <a:ext cx="3286881" cy="3349551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5">
                  <a:alpha val="25084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BA8E7-556C-0FF5-D36A-4D2BABF2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199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Local AI Frameworks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C12A5-673B-B968-F79D-1433C3B73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2436" y="2976345"/>
            <a:ext cx="2474190" cy="1526592"/>
          </a:xfrm>
        </p:spPr>
        <p:txBody>
          <a:bodyPr/>
          <a:lstStyle/>
          <a:p>
            <a:pPr marL="0">
              <a:spcAft>
                <a:spcPts val="1200"/>
              </a:spcAft>
            </a:pPr>
            <a:r>
              <a:rPr lang="en-US" sz="1400" i="1" dirty="0">
                <a:solidFill>
                  <a:srgbClr val="8B949E"/>
                </a:solidFill>
              </a:rPr>
              <a:t>Docker for AI Models</a:t>
            </a:r>
          </a:p>
          <a:p>
            <a:pPr marL="0"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CLI-first, developer-focused. Pull and run models with one command. OpenAI-compatible REST API built in. 162K+ GitHub stars.</a:t>
            </a:r>
            <a:endParaRPr lang="en-US" sz="1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33A3991-09AE-5C0E-22F5-AFC68A09AFFD}"/>
              </a:ext>
            </a:extLst>
          </p:cNvPr>
          <p:cNvGrpSpPr/>
          <p:nvPr/>
        </p:nvGrpSpPr>
        <p:grpSpPr>
          <a:xfrm>
            <a:off x="1208789" y="2180890"/>
            <a:ext cx="1615534" cy="488532"/>
            <a:chOff x="4529666" y="2480734"/>
            <a:chExt cx="4665134" cy="14107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3F208A-9D70-5FCA-050C-9FE9FD38C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9666" y="2480734"/>
              <a:ext cx="1346200" cy="1346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778D25-CBD3-691D-E41E-FE48C6DC2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2066" y="2996907"/>
              <a:ext cx="3242734" cy="894547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32AAC1-8289-3929-40DD-119580E84799}"/>
              </a:ext>
            </a:extLst>
          </p:cNvPr>
          <p:cNvGrpSpPr/>
          <p:nvPr/>
        </p:nvGrpSpPr>
        <p:grpSpPr>
          <a:xfrm>
            <a:off x="4794284" y="2196357"/>
            <a:ext cx="1958879" cy="435253"/>
            <a:chOff x="1811167" y="4556346"/>
            <a:chExt cx="5715700" cy="1270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0810955-FEA2-2A5E-C98F-F45D4C44A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4333" y="4866493"/>
              <a:ext cx="4182534" cy="72739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F8F0BB7-454C-981D-427F-ADFAB3DE1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1167" y="4556346"/>
              <a:ext cx="1270000" cy="127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6DEC0E-D94F-948C-73D3-68E9B9EA892E}"/>
              </a:ext>
            </a:extLst>
          </p:cNvPr>
          <p:cNvGrpSpPr/>
          <p:nvPr/>
        </p:nvGrpSpPr>
        <p:grpSpPr>
          <a:xfrm>
            <a:off x="8177869" y="2133281"/>
            <a:ext cx="2372064" cy="536141"/>
            <a:chOff x="7776831" y="1746290"/>
            <a:chExt cx="2805634" cy="63413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0D965B8-F3E4-C20F-8ECE-DC735B804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58541" y1="33141" x2="58541" y2="33141"/>
                          <a14:foregroundMark x1="16507" y1="79251" x2="16507" y2="79251"/>
                          <a14:foregroundMark x1="16507" y1="78242" x2="16507" y2="78242"/>
                          <a14:foregroundMark x1="16699" y1="78963" x2="17370" y2="86744"/>
                          <a14:foregroundMark x1="44722" y1="82133" x2="44722" y2="82133"/>
                          <a14:foregroundMark x1="34741" y1="82277" x2="34741" y2="82277"/>
                          <a14:foregroundMark x1="32342" y1="82853" x2="32342" y2="82853"/>
                          <a14:foregroundMark x1="26296" y1="85014" x2="26296" y2="85014"/>
                          <a14:foregroundMark x1="46929" y1="82997" x2="46929" y2="82997"/>
                          <a14:foregroundMark x1="50864" y1="82277" x2="50864" y2="82277"/>
                          <a14:foregroundMark x1="59213" y1="84006" x2="59213" y2="84006"/>
                          <a14:foregroundMark x1="66219" y1="81556" x2="66219" y2="81556"/>
                          <a14:foregroundMark x1="71497" y1="82853" x2="71497" y2="82853"/>
                          <a14:foregroundMark x1="80326" y1="84006" x2="80326" y2="84006"/>
                          <a14:foregroundMark x1="83109" y1="83573" x2="83109" y2="83573"/>
                        </a14:backgroundRemoval>
                      </a14:imgEffect>
                    </a14:imgLayer>
                  </a14:imgProps>
                </a:ext>
              </a:extLst>
            </a:blip>
            <a:srcRect l="14555" t="74234" r="14044" b="7541"/>
            <a:stretch>
              <a:fillRect/>
            </a:stretch>
          </p:blipFill>
          <p:spPr>
            <a:xfrm>
              <a:off x="8410968" y="1900468"/>
              <a:ext cx="2171497" cy="36916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E224A7E-382A-FE0C-3A78-9617BD457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76831" y="1746290"/>
              <a:ext cx="634137" cy="634137"/>
            </a:xfrm>
            <a:prstGeom prst="rect">
              <a:avLst/>
            </a:prstGeom>
          </p:spPr>
        </p:pic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954497-FD5C-DDBB-5E5A-C90E73835DF8}"/>
              </a:ext>
            </a:extLst>
          </p:cNvPr>
          <p:cNvSpPr txBox="1">
            <a:spLocks/>
          </p:cNvSpPr>
          <p:nvPr/>
        </p:nvSpPr>
        <p:spPr>
          <a:xfrm>
            <a:off x="4825107" y="2976345"/>
            <a:ext cx="2474190" cy="1526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1200"/>
              </a:spcAft>
            </a:pPr>
            <a:r>
              <a:rPr lang="en-US" sz="1400" i="1" dirty="0">
                <a:solidFill>
                  <a:srgbClr val="8B949E"/>
                </a:solidFill>
              </a:rPr>
              <a:t>The Desktop Experience</a:t>
            </a:r>
          </a:p>
          <a:p>
            <a:pPr marL="0"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Polished GUI for model discovery. Built-in model browser from Hugging Face. Great for Apple Silicon. OpenAI-compatible server.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E80BC09-ACBF-7365-7264-A33D9E6A926E}"/>
              </a:ext>
            </a:extLst>
          </p:cNvPr>
          <p:cNvSpPr txBox="1">
            <a:spLocks/>
          </p:cNvSpPr>
          <p:nvPr/>
        </p:nvSpPr>
        <p:spPr>
          <a:xfrm>
            <a:off x="8236217" y="2976345"/>
            <a:ext cx="2474190" cy="1526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1200"/>
              </a:spcAft>
            </a:pPr>
            <a:r>
              <a:rPr lang="en-US" sz="1400" i="1" dirty="0">
                <a:solidFill>
                  <a:srgbClr val="8B949E"/>
                </a:solidFill>
              </a:rPr>
              <a:t>Microsoft's On-Device Runtime</a:t>
            </a:r>
          </a:p>
          <a:p>
            <a:pPr marL="0"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Cross-platform SDK. Auto hardware detection (CPU/GPU/NPU). ONNX Runtime backend. Seamless Azure AI Foundry integration.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0515C2A-5390-8C35-3F56-2613CB5C1B28}"/>
              </a:ext>
            </a:extLst>
          </p:cNvPr>
          <p:cNvSpPr txBox="1">
            <a:spLocks/>
          </p:cNvSpPr>
          <p:nvPr/>
        </p:nvSpPr>
        <p:spPr>
          <a:xfrm>
            <a:off x="4314239" y="1086478"/>
            <a:ext cx="3563519" cy="53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algn="ctr">
              <a:lnSpc>
                <a:spcPts val="1800"/>
              </a:lnSpc>
              <a:spcAft>
                <a:spcPts val="1200"/>
              </a:spcAft>
            </a:pPr>
            <a:r>
              <a:rPr lang="en-US" sz="1400" dirty="0">
                <a:solidFill>
                  <a:schemeClr val="accent2"/>
                </a:solidFill>
              </a:rPr>
              <a:t>Three tools that make running AI locally as easy as a single command</a:t>
            </a:r>
          </a:p>
        </p:txBody>
      </p:sp>
    </p:spTree>
    <p:extLst>
      <p:ext uri="{BB962C8B-B14F-4D97-AF65-F5344CB8AC3E}">
        <p14:creationId xmlns:p14="http://schemas.microsoft.com/office/powerpoint/2010/main" val="196820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EFE21-DB13-8073-9309-17F919C33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377042"/>
            <a:ext cx="4571600" cy="340059"/>
          </a:xfrm>
        </p:spPr>
        <p:txBody>
          <a:bodyPr/>
          <a:lstStyle/>
          <a:p>
            <a:r>
              <a:rPr lang="en-US" dirty="0"/>
              <a:t>The Developer's Choice  |  </a:t>
            </a:r>
            <a:r>
              <a:rPr lang="en-US" dirty="0" err="1"/>
              <a:t>ollama.com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36EEA5-C977-7C31-7000-D65C4E688C22}"/>
              </a:ext>
            </a:extLst>
          </p:cNvPr>
          <p:cNvSpPr/>
          <p:nvPr/>
        </p:nvSpPr>
        <p:spPr>
          <a:xfrm>
            <a:off x="536838" y="2125938"/>
            <a:ext cx="5283517" cy="2740262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CDFBE-ADE6-55E3-18EB-43215BA3D965}"/>
              </a:ext>
            </a:extLst>
          </p:cNvPr>
          <p:cNvSpPr txBox="1"/>
          <p:nvPr/>
        </p:nvSpPr>
        <p:spPr>
          <a:xfrm>
            <a:off x="770276" y="2326224"/>
            <a:ext cx="45014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Linux / WSL2</a:t>
            </a:r>
          </a:p>
          <a:p>
            <a:pPr lvl="1"/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-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fsSL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ollama.com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install.sh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macOS (Homebrew)</a:t>
            </a:r>
          </a:p>
          <a:p>
            <a:pPr lvl="1"/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brew install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Windows</a:t>
            </a:r>
          </a:p>
          <a:p>
            <a:pPr lvl="1"/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Ollama.Ollama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CF8F73-AF4F-5701-C3B6-EC600704F8BF}"/>
              </a:ext>
            </a:extLst>
          </p:cNvPr>
          <p:cNvGrpSpPr/>
          <p:nvPr/>
        </p:nvGrpSpPr>
        <p:grpSpPr>
          <a:xfrm>
            <a:off x="342096" y="469127"/>
            <a:ext cx="2335155" cy="706143"/>
            <a:chOff x="4529666" y="2480734"/>
            <a:chExt cx="4665134" cy="14107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9F272C-FB42-8A5F-145E-87F81355C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9666" y="2480734"/>
              <a:ext cx="1346200" cy="1346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A32AB5-F57F-40A2-421F-D71296BDA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2066" y="2996907"/>
              <a:ext cx="3242734" cy="894547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28B84FB-EC05-2099-77DB-4DC65D653448}"/>
              </a:ext>
            </a:extLst>
          </p:cNvPr>
          <p:cNvSpPr/>
          <p:nvPr/>
        </p:nvSpPr>
        <p:spPr>
          <a:xfrm>
            <a:off x="640080" y="5176299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GPU Support: </a:t>
            </a:r>
            <a:r>
              <a:rPr lang="en-US" sz="1300" dirty="0">
                <a:solidFill>
                  <a:srgbClr val="FFFFFF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NVIDIA (CUDA)  |  AMD (ROCm)  |  Apple Silicon (Metal)</a:t>
            </a:r>
            <a:endParaRPr lang="en-US" sz="1300" dirty="0">
              <a:latin typeface="DM Sans 14pt" pitchFamily="2" charset="7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5E467C0-4B60-2672-BCA6-4E497C380440}"/>
              </a:ext>
            </a:extLst>
          </p:cNvPr>
          <p:cNvSpPr/>
          <p:nvPr/>
        </p:nvSpPr>
        <p:spPr>
          <a:xfrm>
            <a:off x="640080" y="554205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 source  |  MIT License  |  162K+ GitHub stars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36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EFE21-DB13-8073-9309-17F919C33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377042"/>
            <a:ext cx="4571600" cy="340059"/>
          </a:xfrm>
        </p:spPr>
        <p:txBody>
          <a:bodyPr/>
          <a:lstStyle/>
          <a:p>
            <a:r>
              <a:rPr lang="en-US" dirty="0"/>
              <a:t>The Visual Experience  |  </a:t>
            </a:r>
            <a:r>
              <a:rPr lang="en-US" dirty="0" err="1"/>
              <a:t>lmstudio.ai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5E467C0-4B60-2672-BCA6-4E497C380440}"/>
              </a:ext>
            </a:extLst>
          </p:cNvPr>
          <p:cNvSpPr/>
          <p:nvPr/>
        </p:nvSpPr>
        <p:spPr>
          <a:xfrm>
            <a:off x="640080" y="554205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Free for personal use  |  Best macOS experience  |  GGUF + </a:t>
            </a:r>
            <a:r>
              <a:rPr lang="en-US" sz="1200" dirty="0" err="1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Safetensors</a:t>
            </a:r>
            <a:r>
              <a:rPr lang="en-US" sz="12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support</a:t>
            </a:r>
          </a:p>
          <a:p>
            <a:pPr marL="0" indent="0">
              <a:buNone/>
            </a:pPr>
            <a:endParaRPr lang="en-US" sz="1200" dirty="0">
              <a:solidFill>
                <a:srgbClr val="8B949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F8B574-A08F-2999-D645-4082CB901061}"/>
              </a:ext>
            </a:extLst>
          </p:cNvPr>
          <p:cNvGrpSpPr/>
          <p:nvPr/>
        </p:nvGrpSpPr>
        <p:grpSpPr>
          <a:xfrm>
            <a:off x="438867" y="576723"/>
            <a:ext cx="2519018" cy="559713"/>
            <a:chOff x="1811167" y="4556346"/>
            <a:chExt cx="5715700" cy="1270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923E263-7A3B-8360-5DF4-F11168760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44333" y="4866493"/>
              <a:ext cx="4182534" cy="72739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86F1A69-0F37-B883-3D4C-E40B8D345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1167" y="4556346"/>
              <a:ext cx="1270000" cy="1270000"/>
            </a:xfrm>
            <a:prstGeom prst="rect">
              <a:avLst/>
            </a:prstGeom>
          </p:spPr>
        </p:pic>
      </p:grp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7D992DB-524F-45DE-ECCF-E203899BBACB}"/>
              </a:ext>
            </a:extLst>
          </p:cNvPr>
          <p:cNvSpPr/>
          <p:nvPr/>
        </p:nvSpPr>
        <p:spPr>
          <a:xfrm>
            <a:off x="438867" y="1830837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5">
                  <a:alpha val="1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EF46F2C-FA37-3D4B-7974-D1981A875087}"/>
              </a:ext>
            </a:extLst>
          </p:cNvPr>
          <p:cNvSpPr/>
          <p:nvPr/>
        </p:nvSpPr>
        <p:spPr>
          <a:xfrm>
            <a:off x="6096000" y="1830837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5">
                  <a:alpha val="1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911816C-03E6-0B96-32F6-90E288491EB4}"/>
              </a:ext>
            </a:extLst>
          </p:cNvPr>
          <p:cNvSpPr/>
          <p:nvPr/>
        </p:nvSpPr>
        <p:spPr>
          <a:xfrm>
            <a:off x="438867" y="3667588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5">
                  <a:alpha val="1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602506B-D80C-3A74-E7BF-90FCCD18299F}"/>
              </a:ext>
            </a:extLst>
          </p:cNvPr>
          <p:cNvSpPr/>
          <p:nvPr/>
        </p:nvSpPr>
        <p:spPr>
          <a:xfrm>
            <a:off x="6096000" y="3667588"/>
            <a:ext cx="5230414" cy="1492807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5">
                  <a:alpha val="1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D8FC4EC-FF6A-10EA-4189-86A2F77F91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87013" y="2171176"/>
            <a:ext cx="4534121" cy="812128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One-Click Install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/>
              <a:t>Download from </a:t>
            </a:r>
            <a:r>
              <a:rPr lang="en-US" sz="1400" dirty="0" err="1"/>
              <a:t>lmstudio.ai</a:t>
            </a:r>
            <a:r>
              <a:rPr lang="en-US" sz="1400" dirty="0"/>
              <a:t>. Standard installer on macOS, Windows, Linux. No terminal required.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4063658-3C6C-079B-AA7B-8E03449CF979}"/>
              </a:ext>
            </a:extLst>
          </p:cNvPr>
          <p:cNvSpPr txBox="1">
            <a:spLocks/>
          </p:cNvSpPr>
          <p:nvPr/>
        </p:nvSpPr>
        <p:spPr>
          <a:xfrm>
            <a:off x="6440390" y="2171176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Built-in Model Browser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Search and download models directly from Hugging Face. Preview model specs before downloading.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F66085C-984F-A2AB-9482-3EBC36C84506}"/>
              </a:ext>
            </a:extLst>
          </p:cNvPr>
          <p:cNvSpPr txBox="1">
            <a:spLocks/>
          </p:cNvSpPr>
          <p:nvPr/>
        </p:nvSpPr>
        <p:spPr>
          <a:xfrm>
            <a:off x="787013" y="4007927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OpenAI-Compatible Server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Enable local server at localhost:1234. Drop-in replacement for OpenAI API calls.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6512D0B-3FF7-D45E-3885-ADB0EEC252C5}"/>
              </a:ext>
            </a:extLst>
          </p:cNvPr>
          <p:cNvSpPr txBox="1">
            <a:spLocks/>
          </p:cNvSpPr>
          <p:nvPr/>
        </p:nvSpPr>
        <p:spPr>
          <a:xfrm>
            <a:off x="6440390" y="4007927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Side-by-Side Comparison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Run multiple models simultaneously. Compare outputs in real time to pick the best one.</a:t>
            </a:r>
          </a:p>
        </p:txBody>
      </p:sp>
    </p:spTree>
    <p:extLst>
      <p:ext uri="{BB962C8B-B14F-4D97-AF65-F5344CB8AC3E}">
        <p14:creationId xmlns:p14="http://schemas.microsoft.com/office/powerpoint/2010/main" val="3472480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EFE21-DB13-8073-9309-17F919C33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377042"/>
            <a:ext cx="4571600" cy="340059"/>
          </a:xfrm>
        </p:spPr>
        <p:txBody>
          <a:bodyPr/>
          <a:lstStyle/>
          <a:p>
            <a:r>
              <a:rPr lang="en-US" dirty="0"/>
              <a:t>On-Device AI Runtime  |  Cross-Platform SDK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36EEA5-C977-7C31-7000-D65C4E688C22}"/>
              </a:ext>
            </a:extLst>
          </p:cNvPr>
          <p:cNvSpPr/>
          <p:nvPr/>
        </p:nvSpPr>
        <p:spPr>
          <a:xfrm>
            <a:off x="536838" y="2125938"/>
            <a:ext cx="5283517" cy="3014962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CDFBE-ADE6-55E3-18EB-43215BA3D965}"/>
              </a:ext>
            </a:extLst>
          </p:cNvPr>
          <p:cNvSpPr txBox="1"/>
          <p:nvPr/>
        </p:nvSpPr>
        <p:spPr>
          <a:xfrm>
            <a:off x="770276" y="2326224"/>
            <a:ext cx="39289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Linux / WSL2</a:t>
            </a:r>
          </a:p>
          <a:p>
            <a:pPr lvl="1"/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Microsoft.FoundryLocal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macOS (Homebrew)</a:t>
            </a:r>
          </a:p>
          <a:p>
            <a:pPr lvl="1"/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brew install  </a:t>
            </a:r>
            <a:b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/foundry/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foundrylocal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1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Windows</a:t>
            </a:r>
          </a:p>
          <a:p>
            <a:pPr lvl="1"/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-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fsSL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https://aka.ms/foundry-local- </a:t>
            </a:r>
            <a:b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install | bash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5E467C0-4B60-2672-BCA6-4E497C380440}"/>
              </a:ext>
            </a:extLst>
          </p:cNvPr>
          <p:cNvSpPr/>
          <p:nvPr/>
        </p:nvSpPr>
        <p:spPr>
          <a:xfrm>
            <a:off x="640080" y="554205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locally, deploy to Azure when ready. Or keep everything on-device.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E78259-8F4F-2CB8-F3F2-31565FC95884}"/>
              </a:ext>
            </a:extLst>
          </p:cNvPr>
          <p:cNvGrpSpPr/>
          <p:nvPr/>
        </p:nvGrpSpPr>
        <p:grpSpPr>
          <a:xfrm>
            <a:off x="342096" y="502549"/>
            <a:ext cx="3183052" cy="719443"/>
            <a:chOff x="7776831" y="1746290"/>
            <a:chExt cx="2805634" cy="63413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AE52B1-3D28-827C-D24D-ACDFC90C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8541" y1="33141" x2="58541" y2="33141"/>
                          <a14:foregroundMark x1="16507" y1="79251" x2="16507" y2="79251"/>
                          <a14:foregroundMark x1="16507" y1="78242" x2="16507" y2="78242"/>
                          <a14:foregroundMark x1="16699" y1="78963" x2="17370" y2="86744"/>
                          <a14:foregroundMark x1="44722" y1="82133" x2="44722" y2="82133"/>
                          <a14:foregroundMark x1="34741" y1="82277" x2="34741" y2="82277"/>
                          <a14:foregroundMark x1="32342" y1="82853" x2="32342" y2="82853"/>
                          <a14:foregroundMark x1="26296" y1="85014" x2="26296" y2="85014"/>
                          <a14:foregroundMark x1="46929" y1="82997" x2="46929" y2="82997"/>
                          <a14:foregroundMark x1="50864" y1="82277" x2="50864" y2="82277"/>
                          <a14:foregroundMark x1="59213" y1="84006" x2="59213" y2="84006"/>
                          <a14:foregroundMark x1="66219" y1="81556" x2="66219" y2="81556"/>
                          <a14:foregroundMark x1="71497" y1="82853" x2="71497" y2="82853"/>
                          <a14:foregroundMark x1="80326" y1="84006" x2="80326" y2="84006"/>
                          <a14:foregroundMark x1="83109" y1="83573" x2="83109" y2="83573"/>
                        </a14:backgroundRemoval>
                      </a14:imgEffect>
                    </a14:imgLayer>
                  </a14:imgProps>
                </a:ext>
              </a:extLst>
            </a:blip>
            <a:srcRect l="14555" t="74234" r="14044" b="7541"/>
            <a:stretch>
              <a:fillRect/>
            </a:stretch>
          </p:blipFill>
          <p:spPr>
            <a:xfrm>
              <a:off x="8410968" y="1900468"/>
              <a:ext cx="2171497" cy="36916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388BDF-CDBE-25DF-C1BA-1861C65B8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6831" y="1746290"/>
              <a:ext cx="634137" cy="634137"/>
            </a:xfrm>
            <a:prstGeom prst="rect">
              <a:avLst/>
            </a:prstGeom>
          </p:spPr>
        </p:pic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6C8B06C-8759-7EA1-A4DF-1BD12E85EE4B}"/>
              </a:ext>
            </a:extLst>
          </p:cNvPr>
          <p:cNvSpPr/>
          <p:nvPr/>
        </p:nvSpPr>
        <p:spPr>
          <a:xfrm>
            <a:off x="6096000" y="2125938"/>
            <a:ext cx="5230414" cy="3014962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5">
                  <a:alpha val="1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608D8A1-B192-9A77-B4B0-4A3EF57F2A06}"/>
              </a:ext>
            </a:extLst>
          </p:cNvPr>
          <p:cNvSpPr txBox="1">
            <a:spLocks/>
          </p:cNvSpPr>
          <p:nvPr/>
        </p:nvSpPr>
        <p:spPr>
          <a:xfrm>
            <a:off x="6440390" y="2466277"/>
            <a:ext cx="4534121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Key Features</a:t>
            </a:r>
          </a:p>
          <a:p>
            <a:pPr marL="285750">
              <a:spcBef>
                <a:spcPts val="300"/>
              </a:spcBef>
              <a:spcAft>
                <a:spcPts val="600"/>
              </a:spcAft>
            </a:pPr>
            <a:r>
              <a:rPr lang="en-US" sz="1400" dirty="0"/>
              <a:t>Auto hardware acceleration detection</a:t>
            </a:r>
          </a:p>
          <a:p>
            <a:pPr marL="285750">
              <a:spcBef>
                <a:spcPts val="300"/>
              </a:spcBef>
              <a:spcAft>
                <a:spcPts val="600"/>
              </a:spcAft>
            </a:pPr>
            <a:r>
              <a:rPr lang="en-US" sz="1400" dirty="0"/>
              <a:t>CPU, NVIDIA CUDA, AMD, Intel, NPU, Apple Silicon</a:t>
            </a:r>
          </a:p>
          <a:p>
            <a:pPr marL="285750">
              <a:spcBef>
                <a:spcPts val="300"/>
              </a:spcBef>
              <a:spcAft>
                <a:spcPts val="600"/>
              </a:spcAft>
            </a:pPr>
            <a:r>
              <a:rPr lang="en-US" sz="1400" dirty="0"/>
              <a:t>OpenAI-compatible API endpoint</a:t>
            </a:r>
          </a:p>
          <a:p>
            <a:pPr marL="285750">
              <a:spcBef>
                <a:spcPts val="300"/>
              </a:spcBef>
              <a:spcAft>
                <a:spcPts val="600"/>
              </a:spcAft>
            </a:pPr>
            <a:r>
              <a:rPr lang="en-US" sz="1400" dirty="0"/>
              <a:t>ONNX Runtime optimized backend</a:t>
            </a:r>
          </a:p>
          <a:p>
            <a:pPr marL="285750">
              <a:spcBef>
                <a:spcPts val="300"/>
              </a:spcBef>
              <a:spcAft>
                <a:spcPts val="600"/>
              </a:spcAft>
            </a:pPr>
            <a:r>
              <a:rPr lang="en-US" sz="1400" dirty="0"/>
              <a:t>Python, JavaScript, and C# SDKs</a:t>
            </a:r>
          </a:p>
          <a:p>
            <a:pPr marL="285750">
              <a:spcBef>
                <a:spcPts val="300"/>
              </a:spcBef>
              <a:spcAft>
                <a:spcPts val="600"/>
              </a:spcAft>
            </a:pPr>
            <a:r>
              <a:rPr lang="en-US" sz="1400" dirty="0"/>
              <a:t>Offline operation after initial download</a:t>
            </a:r>
          </a:p>
        </p:txBody>
      </p:sp>
    </p:spTree>
    <p:extLst>
      <p:ext uri="{BB962C8B-B14F-4D97-AF65-F5344CB8AC3E}">
        <p14:creationId xmlns:p14="http://schemas.microsoft.com/office/powerpoint/2010/main" val="640577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0297D1E-223D-C26B-0D5F-A9E77241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1948636"/>
            <a:ext cx="6011939" cy="1477328"/>
          </a:xfrm>
        </p:spPr>
        <p:txBody>
          <a:bodyPr/>
          <a:lstStyle/>
          <a:p>
            <a:r>
              <a:rPr lang="en-US" sz="4800" dirty="0"/>
              <a:t>Open Weight Models That</a:t>
            </a:r>
            <a:br>
              <a:rPr lang="en-US" sz="4800" dirty="0"/>
            </a:br>
            <a:r>
              <a:rPr lang="en-US" sz="4800" dirty="0"/>
              <a:t>Rival the Paid Frontier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E748E19-45C0-8345-5A02-342D91EB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3679931"/>
            <a:ext cx="7417022" cy="10948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2026: The year open-source models closed the gap with proprietary AI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76054C-F139-3ED3-A354-4A873C539ACA}"/>
              </a:ext>
            </a:extLst>
          </p:cNvPr>
          <p:cNvSpPr txBox="1"/>
          <p:nvPr/>
        </p:nvSpPr>
        <p:spPr>
          <a:xfrm>
            <a:off x="335756" y="1535906"/>
            <a:ext cx="10054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The Models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ACF403-3180-4584-1D85-3F4481C0B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71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167D0-5719-39D1-5470-B265E528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457201"/>
            <a:ext cx="5938079" cy="520809"/>
          </a:xfrm>
        </p:spPr>
        <p:txBody>
          <a:bodyPr/>
          <a:lstStyle/>
          <a:p>
            <a:r>
              <a:rPr lang="en-US" dirty="0"/>
              <a:t>The Open Source Model Landscape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5967F3E-34D8-8669-34BE-1E43FA69D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98187"/>
              </p:ext>
            </p:extLst>
          </p:nvPr>
        </p:nvGraphicFramePr>
        <p:xfrm>
          <a:off x="438866" y="1268233"/>
          <a:ext cx="9412800" cy="3950208"/>
        </p:xfrm>
        <a:graphic>
          <a:graphicData uri="http://schemas.openxmlformats.org/drawingml/2006/table">
            <a:tbl>
              <a:tblPr/>
              <a:tblGrid>
                <a:gridCol w="1751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9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Gemma 4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2B / 12B / 27B / 31B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Dense + MoE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Apache 2.0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Phi-4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Microsoft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3.8B / 14B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Dense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MIT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Nemotron Ultra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NVIDIA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253B (45B active)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MoE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Open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Qwen 3.6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Alibaba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35B (3B active)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MoE + Linear Attn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Apache 2.0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Kimi K2.6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Moonshot AI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1T (32B active)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MoE (384 experts)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Modified MIT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Granite 4.1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IBM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2B / 8B / 34B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Dense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Apache 2.0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DeepSeek V4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DeepSeek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1.6T (49B active)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MoE Hybrid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MIT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Mistral Small 4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Mistral AI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119B (6B active)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MoE (128 experts)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Apache 2.0</a:t>
                      </a:r>
                      <a:endParaRPr lang="en-US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79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Gemma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779998"/>
            <a:ext cx="4988118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Sizes: 2B E2B, 12B, 27B dense, 26B-A4B </a:t>
            </a:r>
            <a:r>
              <a:rPr lang="en-US" sz="1400" dirty="0" err="1"/>
              <a:t>MoE</a:t>
            </a:r>
            <a:r>
              <a:rPr lang="en-US" sz="1400" dirty="0"/>
              <a:t> (31B total)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Native multimodal: understands images out of the box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 err="1"/>
              <a:t>WebGPU</a:t>
            </a:r>
            <a:r>
              <a:rPr lang="en-US" sz="1400" dirty="0"/>
              <a:t> support: runs directly in a browser tab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Apache 2.0 license: fully permissive commercial use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12B model rivals larger 27B+ models on reasoning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Excellent multilingual: EN, CN, JP, KR, European </a:t>
            </a:r>
            <a:r>
              <a:rPr lang="en-US" sz="1400" dirty="0" err="1"/>
              <a:t>langs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196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all-around versatile choice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80%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LiveCodeBench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2E8F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(31B dense)</a:t>
            </a:r>
          </a:p>
        </p:txBody>
      </p:sp>
    </p:spTree>
    <p:extLst>
      <p:ext uri="{BB962C8B-B14F-4D97-AF65-F5344CB8AC3E}">
        <p14:creationId xmlns:p14="http://schemas.microsoft.com/office/powerpoint/2010/main" val="3092402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Phi-4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779998"/>
            <a:ext cx="4988118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Sizes: 3.8B mini and 14B reasoning variant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14B beats 70B+ models on math reasoning benchmarks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Optimized for Foundry Local with ONNX acceleration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Perfect for resource-constrained devices and edge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MIT License: completely unrestricted use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Runs well on 8GB RAM machines with quantization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196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Microsoft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Small model, outsized performance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14B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parameters that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punch above weight</a:t>
            </a:r>
          </a:p>
        </p:txBody>
      </p:sp>
    </p:spTree>
    <p:extLst>
      <p:ext uri="{BB962C8B-B14F-4D97-AF65-F5344CB8AC3E}">
        <p14:creationId xmlns:p14="http://schemas.microsoft.com/office/powerpoint/2010/main" val="30463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Nemotron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779998"/>
            <a:ext cx="4988118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 err="1"/>
              <a:t>Nemotron</a:t>
            </a:r>
            <a:r>
              <a:rPr lang="en-US" sz="1400" dirty="0"/>
              <a:t> Ultra 253B: 45B active parameters (</a:t>
            </a:r>
            <a:r>
              <a:rPr lang="en-US" sz="1400" dirty="0" err="1"/>
              <a:t>MoE</a:t>
            </a:r>
            <a:r>
              <a:rPr lang="en-US" sz="1400" dirty="0"/>
              <a:t>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Optimized for NVIDIA hardware (</a:t>
            </a:r>
            <a:r>
              <a:rPr lang="en-US" sz="1400" dirty="0" err="1"/>
              <a:t>TensorRT</a:t>
            </a:r>
            <a:r>
              <a:rPr lang="en-US" sz="1400" dirty="0"/>
              <a:t>-LLM)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Strong at structured data and enterprise tasks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Synthetic data generation capabilities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Open model weights for self-hosting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Designed for production deployment at scale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98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NVIDIA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Enterprise-grade from the GPU company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253B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total params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45B active</a:t>
            </a:r>
          </a:p>
        </p:txBody>
      </p:sp>
    </p:spTree>
    <p:extLst>
      <p:ext uri="{BB962C8B-B14F-4D97-AF65-F5344CB8AC3E}">
        <p14:creationId xmlns:p14="http://schemas.microsoft.com/office/powerpoint/2010/main" val="2755284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Qwen 3.6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6" y="1779998"/>
            <a:ext cx="5437147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35B total, only 3B active (most aggressive </a:t>
            </a:r>
            <a:r>
              <a:rPr lang="en-US" sz="1400" dirty="0" err="1"/>
              <a:t>MoE</a:t>
            </a:r>
            <a:r>
              <a:rPr lang="en-US" sz="1400" dirty="0"/>
              <a:t> sparsity)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Hybrid architecture: linear attention + gated attention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Runs on hardware that struggles with other frontier models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Leads open weights on GPQA Diamond at 88.4%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Wins or ties 5 of 8 benchmark categories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Apache 2.0: widest size range (0.8B to 397B)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98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Alibab</a:t>
            </a: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coding and reasoning champion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88.4%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GPQA Diamond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graduate reasoning</a:t>
            </a:r>
          </a:p>
        </p:txBody>
      </p:sp>
    </p:spTree>
    <p:extLst>
      <p:ext uri="{BB962C8B-B14F-4D97-AF65-F5344CB8AC3E}">
        <p14:creationId xmlns:p14="http://schemas.microsoft.com/office/powerpoint/2010/main" val="2941046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Kimi K2.6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6" y="1779998"/>
            <a:ext cx="5437147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1T total parameters, 32B active, 384 routed experts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SWE-bench Pro: 58.6% (beats Claude Opus 4.6)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Native multi-agent: supports 300 sub-agent swarms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Multimodal: text + image + video understanding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HLE with tools: 54.0% (highest among all models)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Modified MIT license: open weights on Hugging Face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98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Moonshot AI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agent and coding powerhouse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58.6%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SWE-bench Pro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(#1 open weight)</a:t>
            </a:r>
          </a:p>
        </p:txBody>
      </p:sp>
    </p:spTree>
    <p:extLst>
      <p:ext uri="{BB962C8B-B14F-4D97-AF65-F5344CB8AC3E}">
        <p14:creationId xmlns:p14="http://schemas.microsoft.com/office/powerpoint/2010/main" val="3047020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Granite 4.1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6" y="1779998"/>
            <a:ext cx="5437147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Sizes: 2B, 8B, and 34B variants available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Trained on curated, enterprise-grade data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Strong at regulated industry tasks (finance, legal, health)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Transparent training data provenance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Apache 2.0 license with IP indemnification available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Optimized for IBM </a:t>
            </a:r>
            <a:r>
              <a:rPr lang="en-US" sz="1400" dirty="0" err="1"/>
              <a:t>watsonx</a:t>
            </a:r>
            <a:r>
              <a:rPr lang="en-US" sz="1400" dirty="0"/>
              <a:t> but runs anywhere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98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IBM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 trust meets open source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IP Safe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indemnification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available</a:t>
            </a:r>
          </a:p>
        </p:txBody>
      </p:sp>
    </p:spTree>
    <p:extLst>
      <p:ext uri="{BB962C8B-B14F-4D97-AF65-F5344CB8AC3E}">
        <p14:creationId xmlns:p14="http://schemas.microsoft.com/office/powerpoint/2010/main" val="2293621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DeepSeek V4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6" y="1779998"/>
            <a:ext cx="5437147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1.6T total / 49B active: largest open-weight </a:t>
            </a:r>
            <a:r>
              <a:rPr lang="en-US" sz="1400" dirty="0" err="1"/>
              <a:t>MoE</a:t>
            </a:r>
            <a:endParaRPr lang="en-US" sz="1400" dirty="0"/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80.6% SWE-bench Verified (within 0.2pts of Claude)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1M token context window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MIT license: completely unrestricted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93.5% </a:t>
            </a:r>
            <a:r>
              <a:rPr lang="en-US" sz="1400" dirty="0" err="1"/>
              <a:t>LiveCodeBench</a:t>
            </a:r>
            <a:r>
              <a:rPr lang="en-US" sz="1400" dirty="0"/>
              <a:t> v6: best open-weight coding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Hybrid CSA+HCA attention architecture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98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DeepSeek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frontier open-weight giant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80.6%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SWE-bench Verified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near-frontier</a:t>
            </a:r>
          </a:p>
        </p:txBody>
      </p:sp>
    </p:spTree>
    <p:extLst>
      <p:ext uri="{BB962C8B-B14F-4D97-AF65-F5344CB8AC3E}">
        <p14:creationId xmlns:p14="http://schemas.microsoft.com/office/powerpoint/2010/main" val="1256972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F027-9CCD-F2E9-2BC7-C5444DDA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Mistral Small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D8D8C-97DE-E24F-C95A-93C2F08348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6" y="1779998"/>
            <a:ext cx="5437147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119B total, only 6.5B active parameters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128 experts, 4 active per token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256K token context window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Multimodal: text + image understanding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Apache 2.0 license: fully permissive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en-US" sz="1400" dirty="0"/>
              <a:t>Single-GPU deployment possible (H100)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974C500-8382-9C1B-2A35-36CBBFFF00C3}"/>
              </a:ext>
            </a:extLst>
          </p:cNvPr>
          <p:cNvSpPr/>
          <p:nvPr/>
        </p:nvSpPr>
        <p:spPr>
          <a:xfrm>
            <a:off x="438866" y="1031654"/>
            <a:ext cx="498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Mistral AI  |  </a:t>
            </a:r>
            <a:r>
              <a:rPr lang="en-US" sz="1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European efficiency meets global scale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BB03D0-B38E-07E5-F371-6D4286C2DBEE}"/>
              </a:ext>
            </a:extLst>
          </p:cNvPr>
          <p:cNvSpPr/>
          <p:nvPr/>
        </p:nvSpPr>
        <p:spPr>
          <a:xfrm>
            <a:off x="7556393" y="1305974"/>
            <a:ext cx="2633230" cy="263323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Stat3Txt">
            <a:extLst>
              <a:ext uri="{FF2B5EF4-FFF2-40B4-BE49-F238E27FC236}">
                <a16:creationId xmlns:a16="http://schemas.microsoft.com/office/drawing/2014/main" id="{89FD5A73-5FFE-F7E7-208B-4683193F05CA}"/>
              </a:ext>
            </a:extLst>
          </p:cNvPr>
          <p:cNvSpPr/>
          <p:nvPr/>
        </p:nvSpPr>
        <p:spPr>
          <a:xfrm>
            <a:off x="7717903" y="1855425"/>
            <a:ext cx="2310209" cy="138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i="0" u="none" strike="noStrike" kern="0" cap="none" spc="-15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6.5B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active params</a:t>
            </a:r>
          </a:p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from 119B total</a:t>
            </a:r>
          </a:p>
        </p:txBody>
      </p:sp>
    </p:spTree>
    <p:extLst>
      <p:ext uri="{BB962C8B-B14F-4D97-AF65-F5344CB8AC3E}">
        <p14:creationId xmlns:p14="http://schemas.microsoft.com/office/powerpoint/2010/main" val="4118392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340F-A813-F8A1-A887-BAAED0DD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Download Models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1EAAD8-53E5-BBFE-1F12-A2733B82DCBD}"/>
              </a:ext>
            </a:extLst>
          </p:cNvPr>
          <p:cNvSpPr/>
          <p:nvPr/>
        </p:nvSpPr>
        <p:spPr>
          <a:xfrm>
            <a:off x="536838" y="1402369"/>
            <a:ext cx="5283517" cy="3014962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5A764-D4B0-37BB-0944-544F37190C2B}"/>
              </a:ext>
            </a:extLst>
          </p:cNvPr>
          <p:cNvSpPr txBox="1"/>
          <p:nvPr/>
        </p:nvSpPr>
        <p:spPr>
          <a:xfrm>
            <a:off x="770275" y="1602655"/>
            <a:ext cx="434241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Pull from the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library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pull gemma4:12b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pull phi4:14b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pull qwen3.6:35b-a3b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pull deepseek-v4:latest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pull mistral-small4:latest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LM Studio — Search in the GUI or use CLI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 gemma-4-12b-it-GGUF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Foundry Local — Download optimized models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 model download phi-4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 model list    # See all available models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404C6E2-0276-C459-3F31-2EE2C9070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9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340F-A813-F8A1-A887-BAAED0DD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Run Models via CLI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1EAAD8-53E5-BBFE-1F12-A2733B82DCBD}"/>
              </a:ext>
            </a:extLst>
          </p:cNvPr>
          <p:cNvSpPr/>
          <p:nvPr/>
        </p:nvSpPr>
        <p:spPr>
          <a:xfrm>
            <a:off x="536838" y="1402369"/>
            <a:ext cx="5283517" cy="352744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5A764-D4B0-37BB-0944-544F37190C2B}"/>
              </a:ext>
            </a:extLst>
          </p:cNvPr>
          <p:cNvSpPr txBox="1"/>
          <p:nvPr/>
        </p:nvSpPr>
        <p:spPr>
          <a:xfrm>
            <a:off x="770275" y="1602655"/>
            <a:ext cx="47240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Interactive chat session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gemma4:12b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What is a Mixture of Experts architecture?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One-shot prompt (non-interactive)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phi4:14b "Explain quantum computing in 3 sentences"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running models and resource usage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Foundry Local interactive chat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 model run phi-4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model details (params, quantization, context)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show gemma4:12b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FF595E-8A1C-EBEA-F9CC-3358A710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28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340F-A813-F8A1-A887-BAAED0DD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457201"/>
            <a:ext cx="5500757" cy="520809"/>
          </a:xfrm>
        </p:spPr>
        <p:txBody>
          <a:bodyPr/>
          <a:lstStyle/>
          <a:p>
            <a:r>
              <a:rPr lang="en-US" dirty="0"/>
              <a:t>REST API: Programmatic Access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1EAAD8-53E5-BBFE-1F12-A2733B82DCBD}"/>
              </a:ext>
            </a:extLst>
          </p:cNvPr>
          <p:cNvSpPr/>
          <p:nvPr/>
        </p:nvSpPr>
        <p:spPr>
          <a:xfrm>
            <a:off x="536838" y="1665279"/>
            <a:ext cx="5283517" cy="3391751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5A764-D4B0-37BB-0944-544F37190C2B}"/>
              </a:ext>
            </a:extLst>
          </p:cNvPr>
          <p:cNvSpPr txBox="1"/>
          <p:nvPr/>
        </p:nvSpPr>
        <p:spPr>
          <a:xfrm>
            <a:off x="770275" y="2281482"/>
            <a:ext cx="4724076" cy="1927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 \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"model": "gemma4:12b",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[{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"role": "user",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"content": "Hello!"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"stream": false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}'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7E27164-72B1-AD87-2A8F-28F7659ECF69}"/>
              </a:ext>
            </a:extLst>
          </p:cNvPr>
          <p:cNvSpPr/>
          <p:nvPr/>
        </p:nvSpPr>
        <p:spPr>
          <a:xfrm>
            <a:off x="438865" y="1031654"/>
            <a:ext cx="64549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three frameworks expose OpenAI-compatible REST APIs at localhost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D2DC0E0-83B3-369A-EA34-ED53A893364F}"/>
              </a:ext>
            </a:extLst>
          </p:cNvPr>
          <p:cNvSpPr/>
          <p:nvPr/>
        </p:nvSpPr>
        <p:spPr>
          <a:xfrm>
            <a:off x="812578" y="1874492"/>
            <a:ext cx="72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cURL</a:t>
            </a:r>
            <a:endParaRPr lang="en-US" sz="14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4B6C96-53A7-3248-31E5-A8BA5F57F4D5}"/>
              </a:ext>
            </a:extLst>
          </p:cNvPr>
          <p:cNvSpPr/>
          <p:nvPr/>
        </p:nvSpPr>
        <p:spPr>
          <a:xfrm>
            <a:off x="6094799" y="1665279"/>
            <a:ext cx="5283517" cy="3391751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B04DC-36CF-B11F-1004-4F825CEAA1AD}"/>
              </a:ext>
            </a:extLst>
          </p:cNvPr>
          <p:cNvSpPr txBox="1"/>
          <p:nvPr/>
        </p:nvSpPr>
        <p:spPr>
          <a:xfrm>
            <a:off x="6328236" y="2281482"/>
            <a:ext cx="4724076" cy="25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OpenAI</a:t>
            </a:r>
          </a:p>
          <a:p>
            <a:pPr marL="0" indent="0">
              <a:lnSpc>
                <a:spcPts val="1600"/>
              </a:lnSpc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="http://localhost:11434/v1",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# Required but unused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lnSpc>
                <a:spcPts val="1600"/>
              </a:lnSpc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client.chat.completions.create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model="gemma4:12b",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role":"user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content":"Hello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!"}]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AA5E8630-B7F4-9D5C-13CD-29E0884811D3}"/>
              </a:ext>
            </a:extLst>
          </p:cNvPr>
          <p:cNvSpPr/>
          <p:nvPr/>
        </p:nvSpPr>
        <p:spPr>
          <a:xfrm>
            <a:off x="6370539" y="1874492"/>
            <a:ext cx="1803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(OpenAI SDK)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AAEAA19-C91A-0EFF-C5B4-B4F338CD922A}"/>
              </a:ext>
            </a:extLst>
          </p:cNvPr>
          <p:cNvSpPr/>
          <p:nvPr/>
        </p:nvSpPr>
        <p:spPr>
          <a:xfrm>
            <a:off x="640080" y="554205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Same OpenAI SDK, same code — just change the </a:t>
            </a:r>
            <a:r>
              <a:rPr lang="en-US" sz="1200" dirty="0" err="1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base_url</a:t>
            </a:r>
            <a:r>
              <a:rPr lang="en-US" sz="12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localhost</a:t>
            </a:r>
          </a:p>
        </p:txBody>
      </p:sp>
    </p:spTree>
    <p:extLst>
      <p:ext uri="{BB962C8B-B14F-4D97-AF65-F5344CB8AC3E}">
        <p14:creationId xmlns:p14="http://schemas.microsoft.com/office/powerpoint/2010/main" val="154770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C198-AAE4-A3A4-8F9A-8BADB537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Framework API Endpoints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E263D-A2DC-9E18-ABD4-9C5F6CB6C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3680360"/>
            <a:ext cx="8705133" cy="1094800"/>
          </a:xfrm>
        </p:spPr>
        <p:txBody>
          <a:bodyPr/>
          <a:lstStyle/>
          <a:p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</a:rPr>
              <a:t>Key Insight</a:t>
            </a:r>
          </a:p>
          <a:p>
            <a:endParaRPr lang="en-US" dirty="0"/>
          </a:p>
          <a:p>
            <a:r>
              <a:rPr lang="en-US" sz="1400" dirty="0"/>
              <a:t>All three frameworks implement the OpenAI Chat Completions API spec. This means:</a:t>
            </a:r>
          </a:p>
          <a:p>
            <a:endParaRPr lang="en-US" sz="1400" dirty="0"/>
          </a:p>
          <a:p>
            <a:r>
              <a:rPr lang="en-US" sz="1400" dirty="0"/>
              <a:t>Any application built for OpenAI can switch to local models by changing one line: the base URL.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No code refactoring. No SDK changes. Just point to localhost.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CDAC88B-65E7-C706-9E4B-72A3A7F00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263190"/>
              </p:ext>
            </p:extLst>
          </p:nvPr>
        </p:nvGraphicFramePr>
        <p:xfrm>
          <a:off x="438866" y="1421992"/>
          <a:ext cx="7504487" cy="1755648"/>
        </p:xfrm>
        <a:graphic>
          <a:graphicData uri="http://schemas.openxmlformats.org/drawingml/2006/table">
            <a:tbl>
              <a:tblPr/>
              <a:tblGrid>
                <a:gridCol w="201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9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Default URL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Open AI Compatible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DM Sans 14pt" pitchFamily="2" charset="77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100" dirty="0">
                        <a:solidFill>
                          <a:schemeClr val="tx2"/>
                        </a:solidFill>
                        <a:latin typeface="DM Sans 14pt" pitchFamily="2" charset="77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4837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localhost:11434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 (/v1/chat/completions)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LM Studio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localhost:1234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 (/v1/chat/completions)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Foundry Local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localhost:5272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 (OpenAI SDK)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380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7748-723F-36A6-1A87-886DA4FA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Hardware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321E1-C0DC-A1CD-E32C-1627D7F8B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1159796"/>
            <a:ext cx="5657133" cy="311195"/>
          </a:xfrm>
        </p:spPr>
        <p:txBody>
          <a:bodyPr/>
          <a:lstStyle/>
          <a:p>
            <a:r>
              <a:rPr lang="en-US" dirty="0"/>
              <a:t>What you need depends on the model size you want to run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74C7DB3-6E5D-0861-82F3-18CCF03FF830}"/>
              </a:ext>
            </a:extLst>
          </p:cNvPr>
          <p:cNvSpPr/>
          <p:nvPr/>
        </p:nvSpPr>
        <p:spPr>
          <a:xfrm>
            <a:off x="438866" y="1880484"/>
            <a:ext cx="1965960" cy="54864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FAC7CC5-2DC1-AA41-647E-F3DB4DBF642A}"/>
              </a:ext>
            </a:extLst>
          </p:cNvPr>
          <p:cNvSpPr/>
          <p:nvPr/>
        </p:nvSpPr>
        <p:spPr>
          <a:xfrm>
            <a:off x="576026" y="20633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Entry</a:t>
            </a:r>
            <a:endParaRPr lang="en-US" sz="16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63602E3-6C74-B60E-0B69-CB3069005A27}"/>
              </a:ext>
            </a:extLst>
          </p:cNvPr>
          <p:cNvSpPr/>
          <p:nvPr/>
        </p:nvSpPr>
        <p:spPr>
          <a:xfrm>
            <a:off x="576026" y="25205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8-16GB RAM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 modern CPU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BE9DD28-C1FE-1182-F853-87E880BEFD42}"/>
              </a:ext>
            </a:extLst>
          </p:cNvPr>
          <p:cNvSpPr/>
          <p:nvPr/>
        </p:nvSpPr>
        <p:spPr>
          <a:xfrm>
            <a:off x="576026" y="325208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3B-8B models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(Phi-4 mini, Gemma 4 2B)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BB1FA7F-F53C-EC70-A484-A2B01535E3B2}"/>
              </a:ext>
            </a:extLst>
          </p:cNvPr>
          <p:cNvSpPr/>
          <p:nvPr/>
        </p:nvSpPr>
        <p:spPr>
          <a:xfrm>
            <a:off x="576026" y="40750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15-35 tok/s</a:t>
            </a:r>
            <a:endParaRPr lang="en-US" sz="14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730424D-C156-AEDC-C712-A932F4E12C99}"/>
              </a:ext>
            </a:extLst>
          </p:cNvPr>
          <p:cNvSpPr/>
          <p:nvPr/>
        </p:nvSpPr>
        <p:spPr>
          <a:xfrm>
            <a:off x="2738781" y="1880484"/>
            <a:ext cx="196596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3BDF779C-8279-03F3-AB67-BA59B7C2D5DF}"/>
              </a:ext>
            </a:extLst>
          </p:cNvPr>
          <p:cNvSpPr/>
          <p:nvPr/>
        </p:nvSpPr>
        <p:spPr>
          <a:xfrm>
            <a:off x="2875941" y="20633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Mid-Range</a:t>
            </a:r>
            <a:endParaRPr lang="en-US" sz="1600" dirty="0">
              <a:solidFill>
                <a:schemeClr val="accent1"/>
              </a:solidFill>
              <a:latin typeface="DM Sans 14pt" pitchFamily="2" charset="77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7CAFB28C-394E-B623-903E-5ADA877ED8FC}"/>
              </a:ext>
            </a:extLst>
          </p:cNvPr>
          <p:cNvSpPr/>
          <p:nvPr/>
        </p:nvSpPr>
        <p:spPr>
          <a:xfrm>
            <a:off x="2875941" y="25205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16-32GB RAM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RTX 4060-4070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4E04A36A-5C5B-2C13-7CDE-682ADA97652B}"/>
              </a:ext>
            </a:extLst>
          </p:cNvPr>
          <p:cNvSpPr/>
          <p:nvPr/>
        </p:nvSpPr>
        <p:spPr>
          <a:xfrm>
            <a:off x="2875941" y="325208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12B-14B models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(Gemma 4 12B, Phi-4 14B)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FCD9D051-9D28-130E-48DE-26404CBE47B5}"/>
              </a:ext>
            </a:extLst>
          </p:cNvPr>
          <p:cNvSpPr/>
          <p:nvPr/>
        </p:nvSpPr>
        <p:spPr>
          <a:xfrm>
            <a:off x="2875941" y="40750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25-50 tok/s</a:t>
            </a:r>
            <a:endParaRPr lang="en-US" sz="1400" dirty="0">
              <a:solidFill>
                <a:schemeClr val="accent1"/>
              </a:solidFill>
              <a:latin typeface="DM Sans 14pt" pitchFamily="2" charset="77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EC44A7DD-DEA6-5F93-4F57-BA3277C63179}"/>
              </a:ext>
            </a:extLst>
          </p:cNvPr>
          <p:cNvSpPr/>
          <p:nvPr/>
        </p:nvSpPr>
        <p:spPr>
          <a:xfrm>
            <a:off x="5064099" y="1880484"/>
            <a:ext cx="1965960" cy="5486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86CDF24E-8049-59D8-AD6D-B7AA14B7AD59}"/>
              </a:ext>
            </a:extLst>
          </p:cNvPr>
          <p:cNvSpPr/>
          <p:nvPr/>
        </p:nvSpPr>
        <p:spPr>
          <a:xfrm>
            <a:off x="5201259" y="20633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Enthusiast</a:t>
            </a:r>
            <a:endParaRPr lang="en-US" sz="1600" dirty="0">
              <a:solidFill>
                <a:schemeClr val="accent5"/>
              </a:solidFill>
              <a:latin typeface="DM Sans 14pt" pitchFamily="2" charset="7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B2A2F79-5C8A-868D-5BE7-6FA4B99E287A}"/>
              </a:ext>
            </a:extLst>
          </p:cNvPr>
          <p:cNvSpPr/>
          <p:nvPr/>
        </p:nvSpPr>
        <p:spPr>
          <a:xfrm>
            <a:off x="5201259" y="25205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32-64GB RAM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RTX 4090 (24GB)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69190265-51C8-5DD1-F853-B719A392B006}"/>
              </a:ext>
            </a:extLst>
          </p:cNvPr>
          <p:cNvSpPr/>
          <p:nvPr/>
        </p:nvSpPr>
        <p:spPr>
          <a:xfrm>
            <a:off x="5201259" y="325208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27B-35B models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(Gemma 4 27B, Qwen 3.6)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05886459-9D13-C47B-C49D-EF0A9F9DADEE}"/>
              </a:ext>
            </a:extLst>
          </p:cNvPr>
          <p:cNvSpPr/>
          <p:nvPr/>
        </p:nvSpPr>
        <p:spPr>
          <a:xfrm>
            <a:off x="5201259" y="40750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20-50 tok/s</a:t>
            </a:r>
            <a:endParaRPr lang="en-US" sz="1400" dirty="0">
              <a:solidFill>
                <a:schemeClr val="accent5"/>
              </a:solidFill>
              <a:latin typeface="DM Sans 14pt" pitchFamily="2" charset="77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BFFB7125-9895-651C-FB99-E92D63597162}"/>
              </a:ext>
            </a:extLst>
          </p:cNvPr>
          <p:cNvSpPr/>
          <p:nvPr/>
        </p:nvSpPr>
        <p:spPr>
          <a:xfrm>
            <a:off x="7350099" y="1880484"/>
            <a:ext cx="1965960" cy="54864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0B9B4C19-6A6C-DAF4-9E43-186C13D10531}"/>
              </a:ext>
            </a:extLst>
          </p:cNvPr>
          <p:cNvSpPr/>
          <p:nvPr/>
        </p:nvSpPr>
        <p:spPr>
          <a:xfrm>
            <a:off x="7487259" y="20633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Pro</a:t>
            </a:r>
            <a:endParaRPr lang="en-US" sz="1600" dirty="0">
              <a:solidFill>
                <a:schemeClr val="accent3"/>
              </a:solidFill>
              <a:latin typeface="DM Sans 14pt" pitchFamily="2" charset="77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404C8095-F67E-9DAE-AF7C-D7650B8B14AC}"/>
              </a:ext>
            </a:extLst>
          </p:cNvPr>
          <p:cNvSpPr/>
          <p:nvPr/>
        </p:nvSpPr>
        <p:spPr>
          <a:xfrm>
            <a:off x="7487259" y="25205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64-192GB Unified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 Studio / Multi-GPU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A3B78812-E40B-44AC-700C-A2836422537A}"/>
              </a:ext>
            </a:extLst>
          </p:cNvPr>
          <p:cNvSpPr/>
          <p:nvPr/>
        </p:nvSpPr>
        <p:spPr>
          <a:xfrm>
            <a:off x="7487259" y="325208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70B+ models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(DeepSeek, Llama 4)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C2E7F049-19D0-8861-8341-DB3C397F0474}"/>
              </a:ext>
            </a:extLst>
          </p:cNvPr>
          <p:cNvSpPr/>
          <p:nvPr/>
        </p:nvSpPr>
        <p:spPr>
          <a:xfrm>
            <a:off x="7487259" y="40750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15-35 tok/s</a:t>
            </a:r>
            <a:endParaRPr lang="en-US" sz="1400" dirty="0">
              <a:solidFill>
                <a:schemeClr val="accent3"/>
              </a:solidFill>
              <a:latin typeface="DM Sans 14p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3707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7748-723F-36A6-1A87-886DA4FA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Platform Comparison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838DF96-2719-07E3-A2C6-C7433F9CA610}"/>
              </a:ext>
            </a:extLst>
          </p:cNvPr>
          <p:cNvSpPr/>
          <p:nvPr/>
        </p:nvSpPr>
        <p:spPr>
          <a:xfrm>
            <a:off x="805362" y="1547489"/>
            <a:ext cx="3286881" cy="3915057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A3C68E4-E091-FF20-1245-34BE5840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9313" y="2497802"/>
            <a:ext cx="2474190" cy="1526592"/>
          </a:xfrm>
        </p:spPr>
        <p:txBody>
          <a:bodyPr/>
          <a:lstStyle/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Unified memory (up to 192GB)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Silent, low power (20-40W)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Runs 70B+ models affordably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Metal acceleration built in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D4A7BAC9-D73A-0A91-18D8-C70394B07C31}"/>
              </a:ext>
            </a:extLst>
          </p:cNvPr>
          <p:cNvSpPr/>
          <p:nvPr/>
        </p:nvSpPr>
        <p:spPr>
          <a:xfrm>
            <a:off x="1199313" y="197597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Apple Silicon Mac</a:t>
            </a:r>
            <a:endParaRPr lang="en-US" sz="18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A41BB716-15E4-5F0E-24B8-4F3E16B77291}"/>
              </a:ext>
            </a:extLst>
          </p:cNvPr>
          <p:cNvSpPr txBox="1">
            <a:spLocks/>
          </p:cNvSpPr>
          <p:nvPr/>
        </p:nvSpPr>
        <p:spPr>
          <a:xfrm>
            <a:off x="1199313" y="4359872"/>
            <a:ext cx="2474190" cy="53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lnSpc>
                <a:spcPts val="1600"/>
              </a:lnSpc>
              <a:spcAft>
                <a:spcPts val="1200"/>
              </a:spcAft>
            </a:pP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Trade-Offs</a:t>
            </a:r>
            <a:b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sz="1200" dirty="0"/>
              <a:t>20-40% slower per-token than equivalent NVIDIA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0E3F6D7-C897-3292-9468-E8A420128DA0}"/>
              </a:ext>
            </a:extLst>
          </p:cNvPr>
          <p:cNvSpPr/>
          <p:nvPr/>
        </p:nvSpPr>
        <p:spPr>
          <a:xfrm>
            <a:off x="4431157" y="1547489"/>
            <a:ext cx="3286881" cy="3915057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5C0F902-B274-4EDB-D2C3-2FE09CA99EBE}"/>
              </a:ext>
            </a:extLst>
          </p:cNvPr>
          <p:cNvSpPr txBox="1">
            <a:spLocks/>
          </p:cNvSpPr>
          <p:nvPr/>
        </p:nvSpPr>
        <p:spPr>
          <a:xfrm>
            <a:off x="4825108" y="2497802"/>
            <a:ext cx="2474190" cy="1526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Fastest per-token speed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Mature ecosystem (CUDA)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Best framework support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1000+ GB/s bandwidth</a:t>
            </a: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63AACC2C-67FC-A94D-FE9E-50E2C86A8366}"/>
              </a:ext>
            </a:extLst>
          </p:cNvPr>
          <p:cNvSpPr/>
          <p:nvPr/>
        </p:nvSpPr>
        <p:spPr>
          <a:xfrm>
            <a:off x="4825108" y="197597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NVIDIA GPU (CUDA)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C622D00-37C9-51F5-1F37-F956F797C2BF}"/>
              </a:ext>
            </a:extLst>
          </p:cNvPr>
          <p:cNvSpPr txBox="1">
            <a:spLocks/>
          </p:cNvSpPr>
          <p:nvPr/>
        </p:nvSpPr>
        <p:spPr>
          <a:xfrm>
            <a:off x="4825108" y="4359872"/>
            <a:ext cx="2474190" cy="53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lnSpc>
                <a:spcPts val="1600"/>
              </a:lnSpc>
              <a:spcAft>
                <a:spcPts val="1200"/>
              </a:spcAft>
            </a:pP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Trade-Offs</a:t>
            </a:r>
            <a:b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sz="1200" dirty="0"/>
              <a:t>24GB VRAM cap (consumer)</a:t>
            </a:r>
            <a:br>
              <a:rPr lang="en-US" sz="1200" dirty="0"/>
            </a:br>
            <a:r>
              <a:rPr lang="en-US" sz="1200" dirty="0"/>
              <a:t>High power draw (300W+)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192E69D-8416-CEC7-5F91-14DD1E563D16}"/>
              </a:ext>
            </a:extLst>
          </p:cNvPr>
          <p:cNvSpPr/>
          <p:nvPr/>
        </p:nvSpPr>
        <p:spPr>
          <a:xfrm>
            <a:off x="8056952" y="1547489"/>
            <a:ext cx="3286881" cy="3915057"/>
          </a:xfrm>
          <a:prstGeom prst="roundRect">
            <a:avLst>
              <a:gd name="adj" fmla="val 4242"/>
            </a:avLst>
          </a:prstGeom>
          <a:gradFill>
            <a:gsLst>
              <a:gs pos="74000">
                <a:schemeClr val="tx1"/>
              </a:gs>
              <a:gs pos="100000">
                <a:schemeClr val="accent2">
                  <a:alpha val="21331"/>
                </a:schemeClr>
              </a:gs>
            </a:gsLst>
            <a:lin ang="5400000" scaled="1"/>
          </a:gradFill>
          <a:ln w="3175">
            <a:solidFill>
              <a:schemeClr val="bg1">
                <a:lumMod val="50000"/>
                <a:alpha val="7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marL="0" marR="0" lvl="0" indent="0" algn="l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5D11B2D-A6F9-C488-4CB8-A7A4D90587B2}"/>
              </a:ext>
            </a:extLst>
          </p:cNvPr>
          <p:cNvSpPr txBox="1">
            <a:spLocks/>
          </p:cNvSpPr>
          <p:nvPr/>
        </p:nvSpPr>
        <p:spPr>
          <a:xfrm>
            <a:off x="8450903" y="2497802"/>
            <a:ext cx="2474190" cy="1526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Works on any machine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No special hardware needed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Good for 3B-8B models</a:t>
            </a:r>
          </a:p>
          <a:p>
            <a:pPr marL="0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</a:rPr>
              <a:t>Largest RAM capacity</a:t>
            </a: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CD33107D-7137-9738-248C-A34B738CAF84}"/>
              </a:ext>
            </a:extLst>
          </p:cNvPr>
          <p:cNvSpPr/>
          <p:nvPr/>
        </p:nvSpPr>
        <p:spPr>
          <a:xfrm>
            <a:off x="8450903" y="197597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CPU Only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630407F-0556-2F96-B172-66A1585038B0}"/>
              </a:ext>
            </a:extLst>
          </p:cNvPr>
          <p:cNvSpPr txBox="1">
            <a:spLocks/>
          </p:cNvSpPr>
          <p:nvPr/>
        </p:nvSpPr>
        <p:spPr>
          <a:xfrm>
            <a:off x="8450903" y="4359872"/>
            <a:ext cx="2474190" cy="53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>
              <a:lnSpc>
                <a:spcPts val="1600"/>
              </a:lnSpc>
              <a:spcAft>
                <a:spcPts val="1200"/>
              </a:spcAft>
            </a:pP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Trade-Offs</a:t>
            </a:r>
            <a:b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sz="1200" dirty="0"/>
              <a:t>Slowest inference speed</a:t>
            </a:r>
            <a:br>
              <a:rPr lang="en-US" sz="1200" dirty="0"/>
            </a:br>
            <a:r>
              <a:rPr lang="en-US" sz="1200" dirty="0"/>
              <a:t>Limited to small models</a:t>
            </a:r>
          </a:p>
        </p:txBody>
      </p:sp>
    </p:spTree>
    <p:extLst>
      <p:ext uri="{BB962C8B-B14F-4D97-AF65-F5344CB8AC3E}">
        <p14:creationId xmlns:p14="http://schemas.microsoft.com/office/powerpoint/2010/main" val="734894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340F-A813-F8A1-A887-BAAED0DD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457201"/>
            <a:ext cx="5500757" cy="574453"/>
          </a:xfrm>
        </p:spPr>
        <p:txBody>
          <a:bodyPr/>
          <a:lstStyle/>
          <a:p>
            <a:r>
              <a:rPr lang="en-US" dirty="0" err="1"/>
              <a:t>OpenClaw</a:t>
            </a:r>
            <a:r>
              <a:rPr lang="en-US" dirty="0"/>
              <a:t> &amp; Local Models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1EAAD8-53E5-BBFE-1F12-A2733B82DCBD}"/>
              </a:ext>
            </a:extLst>
          </p:cNvPr>
          <p:cNvSpPr/>
          <p:nvPr/>
        </p:nvSpPr>
        <p:spPr>
          <a:xfrm>
            <a:off x="536838" y="1665279"/>
            <a:ext cx="5283517" cy="3161163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5A764-D4B0-37BB-0944-544F37190C2B}"/>
              </a:ext>
            </a:extLst>
          </p:cNvPr>
          <p:cNvSpPr txBox="1"/>
          <p:nvPr/>
        </p:nvSpPr>
        <p:spPr>
          <a:xfrm>
            <a:off x="770275" y="2281482"/>
            <a:ext cx="4724076" cy="2337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 — point to local server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"models": {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"providers": {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lmstudio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"http://127.0.0.1:1234/v1",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-responses"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7E27164-72B1-AD87-2A8F-28F7659ECF69}"/>
              </a:ext>
            </a:extLst>
          </p:cNvPr>
          <p:cNvSpPr/>
          <p:nvPr/>
        </p:nvSpPr>
        <p:spPr>
          <a:xfrm>
            <a:off x="438865" y="1031654"/>
            <a:ext cx="64549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your local models as the AI backend for agentic coding workflows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D2DC0E0-83B3-369A-EA34-ED53A893364F}"/>
              </a:ext>
            </a:extLst>
          </p:cNvPr>
          <p:cNvSpPr/>
          <p:nvPr/>
        </p:nvSpPr>
        <p:spPr>
          <a:xfrm>
            <a:off x="812578" y="1874492"/>
            <a:ext cx="410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OpenClaw</a:t>
            </a: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Configuration for Local Models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AAEAA19-C91A-0EFF-C5B4-B4F338CD922A}"/>
              </a:ext>
            </a:extLst>
          </p:cNvPr>
          <p:cNvSpPr/>
          <p:nvPr/>
        </p:nvSpPr>
        <p:spPr>
          <a:xfrm>
            <a:off x="6790414" y="2148812"/>
            <a:ext cx="3522428" cy="167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How It Works</a:t>
            </a:r>
          </a:p>
          <a:p>
            <a:pPr marL="0" indent="0">
              <a:lnSpc>
                <a:spcPts val="2300"/>
              </a:lnSpc>
              <a:buNone/>
            </a:pPr>
            <a:r>
              <a:rPr lang="en-US" sz="1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OpenClaw</a:t>
            </a: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connects to </a:t>
            </a:r>
            <a:r>
              <a:rPr lang="en-US" sz="1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Ollama</a:t>
            </a:r>
            <a:r>
              <a:rPr lang="en-US" sz="1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LM Studio's local REST API via the standard OpenAI completions interface. Your code stays local, your prompts stay local, and the AI runs on your machine.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5C95C-02B4-1A54-0C8C-A8BCDF662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5" y="5442645"/>
            <a:ext cx="10812231" cy="274320"/>
          </a:xfrm>
        </p:spPr>
        <p:txBody>
          <a:bodyPr/>
          <a:lstStyle/>
          <a:p>
            <a:r>
              <a:rPr lang="en-US" sz="1200" dirty="0">
                <a:solidFill>
                  <a:schemeClr val="accent5"/>
                </a:solidFill>
              </a:rPr>
              <a:t>Recommended: </a:t>
            </a:r>
            <a:r>
              <a:rPr lang="en-US" sz="1200" dirty="0"/>
              <a:t>Use the largest model your hardware supports for best agent performance. Avoid small or heavily quantized models for coding agents.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17172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C3FFA1B1-D874-CB13-2E05-C7EC13D725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 flipV="1">
            <a:off x="5287617" y="0"/>
            <a:ext cx="6904383" cy="5961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134981-B962-9D0F-D0B6-4B42A9F8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Future of AI is Local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6BB01-F53B-C3CD-7CA8-E4CF9CA1F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263487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And it starts with a single command.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0A2AC9-8F8E-854B-EA76-D2CE735FB7A9}"/>
              </a:ext>
            </a:extLst>
          </p:cNvPr>
          <p:cNvSpPr/>
          <p:nvPr/>
        </p:nvSpPr>
        <p:spPr>
          <a:xfrm>
            <a:off x="536838" y="1858611"/>
            <a:ext cx="7016901" cy="717459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39E8E-EF36-B49A-46DE-5365AEB7AE2F}"/>
              </a:ext>
            </a:extLst>
          </p:cNvPr>
          <p:cNvSpPr txBox="1"/>
          <p:nvPr/>
        </p:nvSpPr>
        <p:spPr>
          <a:xfrm>
            <a:off x="770275" y="2083745"/>
            <a:ext cx="4724076" cy="298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r>
              <a:rPr lang="en-US" sz="16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gemma4:12b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0C3D6C-8AC4-629D-CC55-2A0F3EFD830E}"/>
              </a:ext>
            </a:extLst>
          </p:cNvPr>
          <p:cNvSpPr txBox="1">
            <a:spLocks/>
          </p:cNvSpPr>
          <p:nvPr/>
        </p:nvSpPr>
        <p:spPr>
          <a:xfrm>
            <a:off x="760198" y="3236088"/>
            <a:ext cx="2054564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chemeClr val="accent1"/>
                </a:solidFill>
                <a:latin typeface="DM Sans 14pt" pitchFamily="2" charset="77"/>
              </a:rPr>
              <a:t>01</a:t>
            </a:r>
          </a:p>
          <a:p>
            <a:pPr marL="0"/>
            <a:r>
              <a:rPr lang="en-US" sz="14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Install </a:t>
            </a:r>
            <a:r>
              <a:rPr lang="en-US" sz="1400" dirty="0" err="1">
                <a:latin typeface="DM Sans 14pt" pitchFamily="2" charset="77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4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, LM Studio, or Foundry Local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0AF0D62-5C15-4A24-3A29-42A4F64C6E4D}"/>
              </a:ext>
            </a:extLst>
          </p:cNvPr>
          <p:cNvSpPr txBox="1">
            <a:spLocks/>
          </p:cNvSpPr>
          <p:nvPr/>
        </p:nvSpPr>
        <p:spPr>
          <a:xfrm>
            <a:off x="3471592" y="3236088"/>
            <a:ext cx="1538875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chemeClr val="accent1"/>
                </a:solidFill>
                <a:latin typeface="DM Sans 14pt" pitchFamily="2" charset="77"/>
              </a:rPr>
              <a:t>02</a:t>
            </a:r>
          </a:p>
          <a:p>
            <a:pPr marL="0"/>
            <a:r>
              <a:rPr lang="en-US" sz="14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Pull an open source model</a:t>
            </a:r>
          </a:p>
          <a:p>
            <a:pPr marL="0"/>
            <a:endParaRPr lang="en-US" sz="1400" dirty="0">
              <a:latin typeface="DM Sans 14pt" pitchFamily="2" charset="77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48393EB-20C9-B8BB-F702-774D91A00E35}"/>
              </a:ext>
            </a:extLst>
          </p:cNvPr>
          <p:cNvSpPr txBox="1">
            <a:spLocks/>
          </p:cNvSpPr>
          <p:nvPr/>
        </p:nvSpPr>
        <p:spPr>
          <a:xfrm>
            <a:off x="5667297" y="3236088"/>
            <a:ext cx="1736512" cy="92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chemeClr val="accent1"/>
                </a:solidFill>
                <a:latin typeface="DM Sans 14pt" pitchFamily="2" charset="77"/>
              </a:rPr>
              <a:t>03</a:t>
            </a:r>
          </a:p>
          <a:p>
            <a:pPr marL="0"/>
            <a:r>
              <a:rPr lang="en-US" sz="14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Start building with local AI today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CC43FE-596A-85B5-BD4C-4B0F8E6DA041}"/>
              </a:ext>
            </a:extLst>
          </p:cNvPr>
          <p:cNvSpPr txBox="1">
            <a:spLocks/>
          </p:cNvSpPr>
          <p:nvPr/>
        </p:nvSpPr>
        <p:spPr>
          <a:xfrm>
            <a:off x="438867" y="4698127"/>
            <a:ext cx="8490448" cy="263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/>
              <a:t>Your data. Your hardware. Your AI. Zero cost. Total privacy. Infinite possibilities.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28650"/>
      </p:ext>
    </p:extLst>
  </p:cSld>
  <p:clrMapOvr>
    <a:masterClrMapping/>
  </p:clrMapOvr>
</p:sld>
</file>

<file path=ppt/theme/theme1.xml><?xml version="1.0" encoding="utf-8"?>
<a:theme xmlns:a="http://schemas.openxmlformats.org/drawingml/2006/main" name="1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Itential 2025">
      <a:dk1>
        <a:srgbClr val="00001E"/>
      </a:dk1>
      <a:lt1>
        <a:srgbClr val="FFFFFF"/>
      </a:lt1>
      <a:dk2>
        <a:srgbClr val="00001E"/>
      </a:dk2>
      <a:lt2>
        <a:srgbClr val="FFFFFF"/>
      </a:lt2>
      <a:accent1>
        <a:srgbClr val="0099FF"/>
      </a:accent1>
      <a:accent2>
        <a:srgbClr val="FF0095"/>
      </a:accent2>
      <a:accent3>
        <a:srgbClr val="00001E"/>
      </a:accent3>
      <a:accent4>
        <a:srgbClr val="E8EDF2"/>
      </a:accent4>
      <a:accent5>
        <a:srgbClr val="0099FF"/>
      </a:accent5>
      <a:accent6>
        <a:srgbClr val="F0F4F8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7936</TotalTime>
  <Words>2124</Words>
  <Application>Microsoft Macintosh PowerPoint</Application>
  <PresentationFormat>Widescreen</PresentationFormat>
  <Paragraphs>395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8" baseType="lpstr">
      <vt:lpstr>Bebas Neue</vt:lpstr>
      <vt:lpstr>Open Sans</vt:lpstr>
      <vt:lpstr>Arial</vt:lpstr>
      <vt:lpstr>DM Sans</vt:lpstr>
      <vt:lpstr>Calibri</vt:lpstr>
      <vt:lpstr>Open Sans Light</vt:lpstr>
      <vt:lpstr>Inter</vt:lpstr>
      <vt:lpstr>JetBrains Mono Medium</vt:lpstr>
      <vt:lpstr>Inter SemiBold</vt:lpstr>
      <vt:lpstr>JetBrains Mono ExtraBold</vt:lpstr>
      <vt:lpstr>DM Sans 14pt</vt:lpstr>
      <vt:lpstr>JetBrains Mono</vt:lpstr>
      <vt:lpstr>Inter Medium</vt:lpstr>
      <vt:lpstr>Consolas</vt:lpstr>
      <vt:lpstr>JetBrains Mono SemiBold</vt:lpstr>
      <vt:lpstr>Open Sans Extrabold</vt:lpstr>
      <vt:lpstr>1_Itential</vt:lpstr>
      <vt:lpstr>2_Itential</vt:lpstr>
      <vt:lpstr>AI Without the Cloud</vt:lpstr>
      <vt:lpstr>Why Cloud-Hosted AI Isn't Always the Answer</vt:lpstr>
      <vt:lpstr>Privacy</vt:lpstr>
      <vt:lpstr>Security</vt:lpstr>
      <vt:lpstr>Intellectual Property</vt:lpstr>
      <vt:lpstr>They're Learning From Your Data</vt:lpstr>
      <vt:lpstr>The Cost Problem</vt:lpstr>
      <vt:lpstr>Run AI Locally. For Free. Right Now.</vt:lpstr>
      <vt:lpstr>The Local AI Frameworks</vt:lpstr>
      <vt:lpstr>PowerPoint Presentation</vt:lpstr>
      <vt:lpstr>PowerPoint Presentation</vt:lpstr>
      <vt:lpstr>PowerPoint Presentation</vt:lpstr>
      <vt:lpstr>Open Weight Models That Rival the Paid Frontier</vt:lpstr>
      <vt:lpstr>The Open Source Model Landscape</vt:lpstr>
      <vt:lpstr>Gemma 4</vt:lpstr>
      <vt:lpstr>Phi-4</vt:lpstr>
      <vt:lpstr>Nemotron</vt:lpstr>
      <vt:lpstr>Qwen 3.6</vt:lpstr>
      <vt:lpstr>Kimi K2.6</vt:lpstr>
      <vt:lpstr>Granite 4.1</vt:lpstr>
      <vt:lpstr>DeepSeek V4</vt:lpstr>
      <vt:lpstr>Mistral Small 4</vt:lpstr>
      <vt:lpstr>Download Models</vt:lpstr>
      <vt:lpstr>Run Models via CLI</vt:lpstr>
      <vt:lpstr>REST API: Programmatic Access</vt:lpstr>
      <vt:lpstr>Framework API Endpoints</vt:lpstr>
      <vt:lpstr>Hardware Requirements</vt:lpstr>
      <vt:lpstr>Platform Comparison</vt:lpstr>
      <vt:lpstr>OpenClaw &amp; Local Models</vt:lpstr>
      <vt:lpstr>The Future of AI is Local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Burgwald</cp:lastModifiedBy>
  <cp:revision>52</cp:revision>
  <dcterms:modified xsi:type="dcterms:W3CDTF">2026-05-26T12:53:51Z</dcterms:modified>
</cp:coreProperties>
</file>